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60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2" userDrawn="1">
          <p15:clr>
            <a:srgbClr val="747775"/>
          </p15:clr>
        </p15:guide>
        <p15:guide id="2" pos="300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82"/>
        <p:guide pos="300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RegScope项目组。今天非常荣幸能在这里向大家汇报我们项目的中期进展。RegScope是一款旨在革新传统注册表监控方式的新一代工具。在接下来的时间里，我们将详细介绍项目的背景、我们的技术方案、目前的进展以及未来的规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四个部分。首先，我们会介绍项目的选题背景和整体概述，阐明我们为什么要做这个项目以及打算怎么做。接着，会分享我们前期的准备工作和知识储备。之后，是团队成员的分工介绍。最后，我们会详细说明当前的实验进度和后续的工作安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现在，让我们进入第一部分：选题背景与项目概述。在这一章，我们将深入探讨我们项目的出发点，分析现有工具的不足之处，并提出我们的解决方案。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大家熟知的Regshot为例，它的局限性非常典型。首先，它不是实时的，需要手动去做两次快照然后对比。其次，它只告诉你结果，却无法告诉你这个修改是哪个程序干的。最后，它的界面和输出都比较原始，分析起来很费劲。这些正是我们项目要解决的核心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我们的技术方案采用了经典的前后端分离架构。后端使用C++编写，直接与操作系统底层交互，保证了监控的性能和深度。前端则采用强大的Qt 6框架，负责打造美观易用的用户界面。这种分层架构使得我们的代码结构清晰，便于团队协作和未来的功能扩展。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接下来进入第二部分，介绍我们在项目启动初期所做的准备工作和知识储备。这包括了开发环境的搭建和对相关技术的深入学习。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工欲善其事，必先利其器。我们为项目搭建了统一的开发环境，包括Windows 10/11操作系统，使用Qt Creator作为IDE，配合MSVC编译器和CMake构建系统。同时，使用Git进行版本控制，确保团队协作的顺畅。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选型之前，我们首先研究了前辈的工作。通过对Regshot源码的深入分析，我们不仅掌握了注册表操作的基础知识和快照对比的核心原理，更重要的是学习到了其模块化的设计思想，这为我们自己项目的架构设计提供了重要的参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一个成功的项目离不开团队成员的紧密协作。在第三部分，我们将介绍团队成员的分工情况。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团队共有四名成员。张三作为项目负责人，主要负责后端核心开发。李四负责前端开发和UI设计。王五负责系统集成与测试，保证软件质量。赵六则负责文档撰写和技术研究支持。通过明确的分工，我们确保了项目的每个环节都有专人负责，高效推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最后，我们来汇报一下项目的当前进度以及未来的工作安排。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截至目前，我们已经完成了需求分析、背景学习、环境搭建和项目框架搭建。最关键的是，我们已经成功验证了注册表快照功能的初步原型，证明了我们技术路线的可行性。所有这些工作都按计划在今年3月至5月期间完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后续工作，我们制定了详细的时间表。从6月份的详细设计开始，到7、8月的集中编码实现，再到9月的测试和10月的优化，我们计划在11月份完成最终的项目交付。我们有信心按照这个时间表，高质量地完成项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我的汇报到此结束，感谢各位老师和同学的聆听。我们非常乐意回答大家可能有的任何问题。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9" Type="http://schemas.openxmlformats.org/officeDocument/2006/relationships/notesSlide" Target="../notesSlides/notesSlide4.xml"/><Relationship Id="rId28" Type="http://schemas.openxmlformats.org/officeDocument/2006/relationships/slideLayout" Target="../slideLayouts/slideLayout12.xml"/><Relationship Id="rId27" Type="http://schemas.openxmlformats.org/officeDocument/2006/relationships/tags" Target="../tags/tag40.xml"/><Relationship Id="rId26" Type="http://schemas.openxmlformats.org/officeDocument/2006/relationships/tags" Target="../tags/tag39.xml"/><Relationship Id="rId25" Type="http://schemas.openxmlformats.org/officeDocument/2006/relationships/tags" Target="../tags/tag38.xml"/><Relationship Id="rId24" Type="http://schemas.openxmlformats.org/officeDocument/2006/relationships/tags" Target="../tags/tag37.xml"/><Relationship Id="rId23" Type="http://schemas.openxmlformats.org/officeDocument/2006/relationships/tags" Target="../tags/tag36.xml"/><Relationship Id="rId22" Type="http://schemas.openxmlformats.org/officeDocument/2006/relationships/image" Target="../media/image8.svg"/><Relationship Id="rId21" Type="http://schemas.openxmlformats.org/officeDocument/2006/relationships/image" Target="../media/image7.png"/><Relationship Id="rId20" Type="http://schemas.openxmlformats.org/officeDocument/2006/relationships/tags" Target="../tags/tag35.xml"/><Relationship Id="rId2" Type="http://schemas.openxmlformats.org/officeDocument/2006/relationships/tags" Target="../tags/tag21.xml"/><Relationship Id="rId19" Type="http://schemas.openxmlformats.org/officeDocument/2006/relationships/tags" Target="../tags/tag34.xml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image" Target="../media/image6.svg"/><Relationship Id="rId14" Type="http://schemas.openxmlformats.org/officeDocument/2006/relationships/image" Target="../media/image5.png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image" Target="../media/image9.jpeg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image" Target="../media/image10.jpeg"/><Relationship Id="rId10" Type="http://schemas.openxmlformats.org/officeDocument/2006/relationships/tags" Target="../tags/tag48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5" Type="http://schemas.openxmlformats.org/officeDocument/2006/relationships/notesSlide" Target="../notesSlides/notesSlide13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039235" y="1630045"/>
            <a:ext cx="433895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600" b="1" i="0" u="none" strike="noStrike">
                <a:solidFill>
                  <a:srgbClr val="FFFFFF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RegScope</a:t>
            </a:r>
            <a:endParaRPr lang="en-US" sz="6600" b="1" i="0" u="none" strike="noStrike">
              <a:solidFill>
                <a:srgbClr val="FFFFFF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526790" y="3221990"/>
            <a:ext cx="540512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FFFFFF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信息安全综合实验</a:t>
            </a:r>
            <a:r>
              <a:rPr lang="en-US" sz="2800" b="1">
                <a:solidFill>
                  <a:srgbClr val="FFFFFF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大作业中期汇报</a:t>
            </a:r>
            <a:endParaRPr lang="en-US" sz="2800" b="0" i="0" u="none" strike="noStrike">
              <a:solidFill>
                <a:srgbClr val="FFFFFF">
                  <a:alpha val="98039"/>
                </a:srgbClr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762500" y="4800600"/>
            <a:ext cx="266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FFFFFF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小组成员：陈展</a:t>
            </a:r>
            <a:r>
              <a:rPr lang="en-US" altLang="zh-CN" sz="2000" b="1" i="0" u="none" strike="noStrike">
                <a:solidFill>
                  <a:srgbClr val="FFFFFF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 </a:t>
            </a:r>
            <a:r>
              <a:rPr lang="zh-CN" altLang="en-US" sz="2000" b="1" i="0" u="none" strike="noStrike">
                <a:solidFill>
                  <a:srgbClr val="FFFFFF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段俊宇</a:t>
            </a:r>
            <a:endParaRPr lang="zh-CN" altLang="en-US" sz="2000" b="1" i="0" u="none" strike="noStrike">
              <a:solidFill>
                <a:srgbClr val="FFFFFF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目录 CONTENTS</a:t>
            </a:r>
            <a:endParaRPr lang="en-US" sz="4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2667000" cy="2383155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651000"/>
            <a:ext cx="266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746250" y="18415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01</a:t>
            </a:r>
            <a:endParaRPr lang="en-US" sz="36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952500" y="241300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选题背景与项目概述</a:t>
            </a:r>
            <a:endParaRPr 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952500" y="2858135"/>
            <a:ext cx="2349500" cy="8724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zh-CN" altLang="en-US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阐述</a:t>
            </a:r>
            <a:r>
              <a:rPr lang="en-US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Regshot的局限，明确项目要解决的核心技术问题，并</a:t>
            </a:r>
            <a:r>
              <a:rPr lang="zh-CN" altLang="en-US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概述</a:t>
            </a:r>
            <a:r>
              <a:rPr lang="en-US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整体技术方案。</a:t>
            </a:r>
            <a:endParaRPr lang="en-US" b="0" i="0" u="none" strike="noStrike">
              <a:solidFill>
                <a:srgbClr val="4B5563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3619500" y="1651000"/>
            <a:ext cx="2667000" cy="238887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3619500" y="1651000"/>
            <a:ext cx="266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4603750" y="18415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02</a:t>
            </a:r>
            <a:endParaRPr lang="en-US" sz="36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3810000" y="241300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准备工作</a:t>
            </a:r>
            <a:endParaRPr 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3810000" y="2881630"/>
            <a:ext cx="2349500" cy="1071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zh-CN" altLang="en-US" sz="1400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开发环境的配置，对Regshot核心源码进行研究与分析，项目整体架构的顶层设计与模块规划。</a:t>
            </a:r>
            <a:endParaRPr lang="en-US" sz="1600" b="0" i="0" u="none" strike="noStrike">
              <a:solidFill>
                <a:srgbClr val="4B5563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6477000" y="1651000"/>
            <a:ext cx="2667000" cy="2389505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6477000" y="1651000"/>
            <a:ext cx="266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7440930" y="18415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03</a:t>
            </a:r>
            <a:endParaRPr lang="en-US" sz="36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6635750" y="241300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ctr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小组成员分工</a:t>
            </a:r>
            <a:endParaRPr 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6667500" y="2886075"/>
            <a:ext cx="2349500" cy="8020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zh-CN" altLang="en-US" sz="1400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根据项目模块划分和成员技术特长进行分工安排，明确开发流程和前后端接口等设计。</a:t>
            </a:r>
            <a:endParaRPr lang="zh-CN" altLang="en-US" sz="1400" b="0" i="0" u="none" strike="noStrike">
              <a:solidFill>
                <a:srgbClr val="4B5563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9271000" y="1651000"/>
            <a:ext cx="2667000" cy="2389505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20" name="AutoShape 20"/>
          <p:cNvSpPr/>
          <p:nvPr>
            <p:custDataLst>
              <p:tags r:id="rId18"/>
            </p:custDataLst>
          </p:nvPr>
        </p:nvSpPr>
        <p:spPr>
          <a:xfrm>
            <a:off x="9271000" y="1651000"/>
            <a:ext cx="266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21" name="AutoShape 21"/>
          <p:cNvSpPr/>
          <p:nvPr>
            <p:custDataLst>
              <p:tags r:id="rId19"/>
            </p:custDataLst>
          </p:nvPr>
        </p:nvSpPr>
        <p:spPr>
          <a:xfrm>
            <a:off x="10255250" y="18415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04</a:t>
            </a:r>
            <a:endParaRPr lang="en-US" sz="36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20"/>
            </p:custDataLst>
          </p:nvPr>
        </p:nvSpPr>
        <p:spPr>
          <a:xfrm>
            <a:off x="9461500" y="241300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实验进度及后期安排</a:t>
            </a:r>
            <a:endParaRPr lang="en-US" sz="16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21"/>
            </p:custDataLst>
          </p:nvPr>
        </p:nvSpPr>
        <p:spPr>
          <a:xfrm>
            <a:off x="9461500" y="2885440"/>
            <a:ext cx="2349500" cy="7943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zh-CN" altLang="en-US" sz="1400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总结当前阶段的成果，复盘执行过程中的问题，制定后续的开发安排和时间推进计划。</a:t>
            </a:r>
            <a:endParaRPr lang="zh-CN" altLang="en-US" sz="1400" b="0" i="0" u="none" strike="noStrike">
              <a:solidFill>
                <a:srgbClr val="4B5563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62000" y="4308475"/>
            <a:ext cx="11176000" cy="1315085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25" name="AutoShape 25"/>
          <p:cNvSpPr/>
          <p:nvPr/>
        </p:nvSpPr>
        <p:spPr>
          <a:xfrm flipH="1">
            <a:off x="748030" y="4308475"/>
            <a:ext cx="76200" cy="1315720"/>
          </a:xfrm>
          <a:prstGeom prst="roundRect">
            <a:avLst>
              <a:gd name="adj" fmla="val 0"/>
            </a:avLst>
          </a:prstGeom>
          <a:solidFill>
            <a:srgbClr val="10B981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1016000" y="4498975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汇报概览</a:t>
            </a:r>
            <a:endParaRPr 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1016000" y="4943475"/>
            <a:ext cx="10541000" cy="5435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本次中期汇报将按照上述四个维度展开，从项目的选题背景出发，逐步介绍我们的技术准备与分工配置，最后呈现目前的执行进度与未来规划。</a:t>
            </a:r>
            <a:endParaRPr lang="en-US" sz="1400" b="0" i="0" u="none" strike="noStrike">
              <a:solidFill>
                <a:srgbClr val="4B5563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3" grpId="0"/>
      <p:bldP spid="13" grpId="1"/>
      <p:bldP spid="18" grpId="0"/>
      <p:bldP spid="18" grpId="1"/>
      <p:bldP spid="23" grpId="0"/>
      <p:bldP spid="2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41495" y="1072515"/>
            <a:ext cx="304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10B981">
                    <a:alpha val="25098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Noto Sans SC" panose="020B0200000000000000" charset="-122"/>
              </a:rPr>
              <a:t>01</a:t>
            </a:r>
            <a:endParaRPr lang="en-US" sz="12000" b="1" i="0" u="none" strike="noStrike">
              <a:solidFill>
                <a:srgbClr val="10B981">
                  <a:alpha val="25098"/>
                </a:srgb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327025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F2937"/>
                </a:solidFill>
                <a:latin typeface="华文楷体" panose="02010600040101010101" charset="-122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选题背景与项目概述</a:t>
            </a:r>
            <a:endParaRPr lang="en-US" sz="4400" b="1" i="0" u="none" strike="noStrike">
              <a:solidFill>
                <a:srgbClr val="1F2937"/>
              </a:solidFill>
              <a:latin typeface="华文楷体" panose="02010600040101010101" charset="-122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71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Regshot</a:t>
            </a:r>
            <a:r>
              <a:rPr lang="en-US" sz="4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的局限性</a:t>
            </a:r>
            <a:endParaRPr lang="en-US" sz="4000" b="1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829435"/>
            <a:ext cx="2353945" cy="317246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 flipV="1">
            <a:off x="762000" y="1754505"/>
            <a:ext cx="2353945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300" y="2032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445895" y="2057400"/>
            <a:ext cx="1598295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非实时性监测</a:t>
            </a:r>
            <a:endParaRPr 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878840" y="2514600"/>
            <a:ext cx="2165985" cy="22104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en-US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依赖用户手动执行两次快照</a:t>
            </a:r>
            <a:r>
              <a:rPr lang="zh-CN" altLang="en-US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的拍摄并进行对比</a:t>
            </a:r>
            <a:r>
              <a:rPr lang="en-US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只能对两个时间点的注册表变化进行比较，无法实现在某一段时间内对注册表变化的持续监控，无法反映完整的变化。</a:t>
            </a:r>
            <a:endParaRPr lang="en-US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4"/>
          <p:cNvSpPr/>
          <p:nvPr>
            <p:custDataLst>
              <p:tags r:id="rId9"/>
            </p:custDataLst>
          </p:nvPr>
        </p:nvSpPr>
        <p:spPr>
          <a:xfrm>
            <a:off x="3590925" y="1829435"/>
            <a:ext cx="2428875" cy="317246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2" name="AutoShape 5"/>
          <p:cNvSpPr/>
          <p:nvPr>
            <p:custDataLst>
              <p:tags r:id="rId10"/>
            </p:custDataLst>
          </p:nvPr>
        </p:nvSpPr>
        <p:spPr>
          <a:xfrm flipV="1">
            <a:off x="3590925" y="1754505"/>
            <a:ext cx="2428875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4" name="AutoShape 7"/>
          <p:cNvSpPr/>
          <p:nvPr>
            <p:custDataLst>
              <p:tags r:id="rId11"/>
            </p:custDataLst>
          </p:nvPr>
        </p:nvSpPr>
        <p:spPr>
          <a:xfrm>
            <a:off x="4297680" y="2032635"/>
            <a:ext cx="1618615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缺乏溯源信息</a:t>
            </a:r>
            <a:endParaRPr lang="en-US" sz="18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9"/>
          <p:cNvSpPr/>
          <p:nvPr>
            <p:custDataLst>
              <p:tags r:id="rId12"/>
            </p:custDataLst>
          </p:nvPr>
        </p:nvSpPr>
        <p:spPr>
          <a:xfrm>
            <a:off x="3733165" y="2513965"/>
            <a:ext cx="2183130" cy="22104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en-US" sz="1400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比较结果仅能展示两个时间点注册表内容发生了什么变化，但无法提供关键的上下文信息：是哪个具体进程、在什么时间点执行了此次修改。</a:t>
            </a:r>
            <a:endParaRPr lang="en-US" sz="14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6" name="Picture 1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794125" y="2080260"/>
            <a:ext cx="457200" cy="457200"/>
          </a:xfrm>
          <a:prstGeom prst="rect">
            <a:avLst/>
          </a:prstGeom>
        </p:spPr>
      </p:pic>
      <p:sp>
        <p:nvSpPr>
          <p:cNvPr id="38" name="AutoShape 4"/>
          <p:cNvSpPr/>
          <p:nvPr>
            <p:custDataLst>
              <p:tags r:id="rId16"/>
            </p:custDataLst>
          </p:nvPr>
        </p:nvSpPr>
        <p:spPr>
          <a:xfrm>
            <a:off x="6481445" y="1829435"/>
            <a:ext cx="2318385" cy="317246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9" name="AutoShape 5"/>
          <p:cNvSpPr/>
          <p:nvPr>
            <p:custDataLst>
              <p:tags r:id="rId17"/>
            </p:custDataLst>
          </p:nvPr>
        </p:nvSpPr>
        <p:spPr>
          <a:xfrm flipV="1">
            <a:off x="6481445" y="1754505"/>
            <a:ext cx="2312670" cy="76835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40" name="AutoShape 7"/>
          <p:cNvSpPr/>
          <p:nvPr>
            <p:custDataLst>
              <p:tags r:id="rId18"/>
            </p:custDataLst>
          </p:nvPr>
        </p:nvSpPr>
        <p:spPr>
          <a:xfrm>
            <a:off x="7208520" y="2032635"/>
            <a:ext cx="164084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交互体验一般</a:t>
            </a:r>
            <a:endParaRPr lang="en-US" sz="18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1" name="AutoShape 9"/>
          <p:cNvSpPr/>
          <p:nvPr>
            <p:custDataLst>
              <p:tags r:id="rId19"/>
            </p:custDataLst>
          </p:nvPr>
        </p:nvSpPr>
        <p:spPr>
          <a:xfrm>
            <a:off x="6591935" y="2513965"/>
            <a:ext cx="2098040" cy="22110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en-US" sz="1400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软件无法展示注册表的具体结构，仅能输出纯文本或html的比较结果，信息密度大且结构扁平。此外，软件操作界面较为简单，用户使用的体验感一般。</a:t>
            </a:r>
            <a:endParaRPr lang="en-US" sz="14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3" name="Picture 22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92900" y="2032635"/>
            <a:ext cx="457200" cy="457200"/>
          </a:xfrm>
          <a:prstGeom prst="rect">
            <a:avLst/>
          </a:prstGeom>
        </p:spPr>
      </p:pic>
      <p:sp>
        <p:nvSpPr>
          <p:cNvPr id="44" name="AutoShape 4"/>
          <p:cNvSpPr/>
          <p:nvPr>
            <p:custDataLst>
              <p:tags r:id="rId23"/>
            </p:custDataLst>
          </p:nvPr>
        </p:nvSpPr>
        <p:spPr>
          <a:xfrm>
            <a:off x="9364980" y="1829435"/>
            <a:ext cx="2318385" cy="317246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45" name="AutoShape 5"/>
          <p:cNvSpPr/>
          <p:nvPr>
            <p:custDataLst>
              <p:tags r:id="rId24"/>
            </p:custDataLst>
          </p:nvPr>
        </p:nvSpPr>
        <p:spPr>
          <a:xfrm flipV="1">
            <a:off x="9364980" y="1754505"/>
            <a:ext cx="2312670" cy="76835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46" name="AutoShape 7"/>
          <p:cNvSpPr/>
          <p:nvPr>
            <p:custDataLst>
              <p:tags r:id="rId25"/>
            </p:custDataLst>
          </p:nvPr>
        </p:nvSpPr>
        <p:spPr>
          <a:xfrm>
            <a:off x="10092055" y="2032635"/>
            <a:ext cx="1481455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系统不适配</a:t>
            </a:r>
            <a:endParaRPr 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7" name="AutoShape 9"/>
          <p:cNvSpPr/>
          <p:nvPr>
            <p:custDataLst>
              <p:tags r:id="rId26"/>
            </p:custDataLst>
          </p:nvPr>
        </p:nvSpPr>
        <p:spPr>
          <a:xfrm>
            <a:off x="9475470" y="2513965"/>
            <a:ext cx="2098040" cy="22110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Regshot虽然能够实现注册表比较，但是适用于32位Windwos系统，对于当前64位系统并不适配，无法在现代操作系统中实现注册表的监控。</a:t>
            </a:r>
            <a:endParaRPr lang="en-US" sz="14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8" name="Picture 22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576435" y="2032635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35" grpId="0"/>
      <p:bldP spid="35" grpId="1"/>
      <p:bldP spid="41" grpId="0"/>
      <p:bldP spid="41" grpId="1"/>
      <p:bldP spid="47" grpId="0"/>
      <p:bldP spid="4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889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技术方案概述</a:t>
            </a:r>
            <a:endParaRPr lang="en-US" sz="4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4689475" cy="350012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2471" r="12471"/>
          <a:stretch>
            <a:fillRect/>
          </a:stretch>
        </p:blipFill>
        <p:spPr>
          <a:xfrm>
            <a:off x="889000" y="1778000"/>
            <a:ext cx="711200" cy="711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778000" y="1803400"/>
            <a:ext cx="3502660" cy="7169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后端</a:t>
            </a:r>
            <a:b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</a:b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核心监控引擎</a:t>
            </a:r>
            <a:endParaRPr lang="en-US" sz="2000"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889000" y="2667000"/>
            <a:ext cx="4391660" cy="4445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952500" y="26924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核心语言：C++ 原生开发</a:t>
            </a:r>
            <a:endParaRPr lang="en-US" sz="20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889000" y="3245485"/>
            <a:ext cx="4391660" cy="10452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调用底层 Windows Native API 与 Win32 API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，使用</a:t>
            </a:r>
            <a:r>
              <a:rPr lang="en-US" altLang="zh-CN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ETW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框架</a:t>
            </a:r>
            <a:r>
              <a:rPr 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，实现注册表快照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拍摄比较和实时</a:t>
            </a:r>
            <a:r>
              <a:rPr 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进程回调监控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功能</a:t>
            </a:r>
            <a:r>
              <a:rPr 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，为安全审计提供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实时</a:t>
            </a:r>
            <a:r>
              <a:rPr 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数据支撑。</a:t>
            </a:r>
            <a:endParaRPr lang="en-US" sz="16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6561455" y="1649095"/>
            <a:ext cx="4782820" cy="3499485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6688455" y="1776095"/>
            <a:ext cx="711200" cy="711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7577455" y="1801495"/>
            <a:ext cx="3608705" cy="7353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前端</a:t>
            </a:r>
            <a:b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</a:b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用户交互界面</a:t>
            </a:r>
            <a:endParaRPr lang="en-US" sz="2000"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6688455" y="2665095"/>
            <a:ext cx="4497705" cy="4445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6751955" y="269049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开发框架：Qt 6 跨平台</a:t>
            </a:r>
            <a:endParaRPr lang="en-US" sz="20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6688455" y="3238500"/>
            <a:ext cx="4497070" cy="14738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en-US" sz="1600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基于成熟的Qt框架开发现代化交互界面</a:t>
            </a:r>
            <a:r>
              <a:rPr lang="zh-CN" altLang="en-US" sz="1600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，</a:t>
            </a:r>
            <a:r>
              <a:rPr lang="en-US" sz="1600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将注册表操作数据结构化，</a:t>
            </a:r>
            <a:r>
              <a:rPr lang="zh-CN" altLang="en-US" sz="1600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通过</a:t>
            </a:r>
            <a:r>
              <a:rPr lang="en-US" sz="1600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树状视图渲染，让用户能够清晰查看注册表内容。利用Qt的信号槽机制</a:t>
            </a:r>
            <a:r>
              <a:rPr 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无缝对接后端数据流，提供流畅、一致的跨平台操作体验。</a:t>
            </a:r>
            <a:endParaRPr lang="en-US" sz="16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5" grpId="0"/>
      <p:bldP spid="1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0" y="978535"/>
            <a:ext cx="304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10B981">
                    <a:alpha val="34902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Noto Sans SC" panose="020B0200000000000000" charset="-122"/>
              </a:rPr>
              <a:t>02</a:t>
            </a:r>
            <a:endParaRPr lang="en-US" sz="12000" b="1" i="0" u="none" strike="noStrike">
              <a:solidFill>
                <a:srgbClr val="10B981">
                  <a:alpha val="34902"/>
                </a:srgb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2980055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F2937"/>
                </a:solidFill>
                <a:latin typeface="华文楷体" panose="02010600040101010101" charset="-122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准备工作</a:t>
            </a:r>
            <a:endParaRPr lang="en-US" sz="4400" b="1" i="0" u="none" strike="noStrike">
              <a:solidFill>
                <a:srgbClr val="1F2937"/>
              </a:solidFill>
              <a:latin typeface="华文楷体" panose="02010600040101010101" charset="-122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开发环境配置</a:t>
            </a:r>
            <a:endParaRPr lang="en-US" sz="4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操作系统</a:t>
            </a:r>
            <a:endParaRPr 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952500" y="215265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Windows 10/11 (64-bit)</a:t>
            </a:r>
            <a:endParaRPr lang="en-US" sz="16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52500" y="2652395"/>
            <a:ext cx="3111500" cy="9620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en-US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项目的目标运行平台，提供稳定、成熟的桌面软件运行环境，满足主流硬件兼容性要求。</a:t>
            </a:r>
            <a:endParaRPr lang="en-US" b="0" i="0" u="none" strike="noStrike">
              <a:solidFill>
                <a:srgbClr val="4B5563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81500" y="1651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815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572000" y="18415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集成开发环境 (IDE)</a:t>
            </a:r>
            <a:endParaRPr 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572000" y="215265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Qt Creator 17.0.2</a:t>
            </a:r>
            <a:endParaRPr lang="en-US" sz="16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572000" y="2652395"/>
            <a:ext cx="3111500" cy="9671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专为 Qt 框架打造的一体化开发工具，支持高效的代码编辑、实时语法检查、编译构建与调试。</a:t>
            </a:r>
            <a:endParaRPr lang="en-US" sz="1400" b="0" i="0" u="none" strike="noStrike">
              <a:solidFill>
                <a:srgbClr val="4B5563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001000" y="1651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191500" y="18415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编译器</a:t>
            </a:r>
            <a:endParaRPr lang="en-US" sz="16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91500" y="215265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MSVC 2022 (amd64)</a:t>
            </a:r>
            <a:endParaRPr lang="en-US" sz="16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191500" y="2660650"/>
            <a:ext cx="3111500" cy="9626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高性能的 C++ 编译器，用于将源代码编译为 64 位可执行程序，具备优秀的优化能力和标准支持。</a:t>
            </a:r>
            <a:endParaRPr lang="en-US" sz="1400" b="0" i="0" u="none" strike="noStrike">
              <a:solidFill>
                <a:srgbClr val="4B5563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3937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3937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52500" y="41275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Qt 应用框架</a:t>
            </a:r>
            <a:endParaRPr 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52500" y="4454525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Qt 6.10.0 MSVC2022 64bit</a:t>
            </a:r>
            <a:endParaRPr lang="en-US" sz="16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952500" y="4962525"/>
            <a:ext cx="3111500" cy="942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项目核心开发库，用于构建跨平台的图形用户界面 (GUI)，封装底层细节，加速应用开发进程。</a:t>
            </a:r>
            <a:endParaRPr lang="en-US" sz="1400" b="0" i="0" u="none" strike="noStrike">
              <a:solidFill>
                <a:srgbClr val="4B5563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4381500" y="3937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4381500" y="3937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4572000" y="41275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构建系统</a:t>
            </a:r>
            <a:endParaRPr 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4572000" y="4454525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CMake</a:t>
            </a:r>
            <a:endParaRPr lang="en-US" sz="16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4572000" y="4961890"/>
            <a:ext cx="3111500" cy="9436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跨平台自动化构建工具，管理项目编译流程，屏蔽不同操作系统和编译器的差异，提升工程可维护性。</a:t>
            </a:r>
            <a:endParaRPr lang="en-US" sz="1400" b="0" i="0" u="none" strike="noStrike">
              <a:solidFill>
                <a:srgbClr val="4B5563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001000" y="3937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8001000" y="3937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8191500" y="41275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版本控制</a:t>
            </a:r>
            <a:endParaRPr 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191500" y="4454525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Git</a:t>
            </a:r>
            <a:endParaRPr lang="en-US" sz="16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8191500" y="4961255"/>
            <a:ext cx="3111500" cy="944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分布式版本控制系统，保障代码的历史追溯与多人协作开发，确保项目迭代过程中的代码安全与同步。</a:t>
            </a:r>
            <a:endParaRPr lang="en-US" sz="1400" b="0" i="0" u="none" strike="noStrike">
              <a:solidFill>
                <a:srgbClr val="4B5563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3" grpId="0"/>
      <p:bldP spid="13" grpId="1"/>
      <p:bldP spid="18" grpId="0"/>
      <p:bldP spid="18" grpId="1"/>
      <p:bldP spid="23" grpId="0"/>
      <p:bldP spid="23" grpId="1"/>
      <p:bldP spid="28" grpId="0"/>
      <p:bldP spid="28" grpId="1"/>
      <p:bldP spid="33" grpId="0"/>
      <p:bldP spid="3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背景知识学习：对Regshot项目的源码结构研究</a:t>
            </a:r>
            <a:endParaRPr lang="en-US" sz="4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2082800" cy="1995805"/>
          </a:xfrm>
          <a:prstGeom prst="roundRect">
            <a:avLst>
              <a:gd name="adj" fmla="val 0"/>
            </a:avLst>
          </a:prstGeom>
          <a:solidFill>
            <a:srgbClr val="ECFDF5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20828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25500" y="1879600"/>
            <a:ext cx="1955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regshot.c</a:t>
            </a:r>
            <a:endParaRPr lang="en-US" sz="20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25500" y="2261235"/>
            <a:ext cx="1955800" cy="13658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zh-CN" altLang="en-US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程序核心模块，实现快照的拍摄、比较和保存功能，统筹协调</a:t>
            </a:r>
            <a:r>
              <a:rPr lang="en-US" altLang="zh-CN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UI</a:t>
            </a:r>
            <a:r>
              <a:rPr lang="zh-CN" altLang="en-US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、输出等模块。</a:t>
            </a:r>
            <a:endParaRPr lang="zh-CN" altLang="en-US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921000" y="1778000"/>
            <a:ext cx="2082800" cy="1995805"/>
          </a:xfrm>
          <a:prstGeom prst="roundRect">
            <a:avLst>
              <a:gd name="adj" fmla="val 0"/>
            </a:avLst>
          </a:prstGeom>
          <a:solidFill>
            <a:srgbClr val="ECFDF5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921000" y="1778000"/>
            <a:ext cx="20828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2984500" y="1879600"/>
            <a:ext cx="1955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fileshot.c</a:t>
            </a:r>
            <a:endParaRPr lang="en-US" sz="20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2984500" y="2261235"/>
            <a:ext cx="1955800" cy="13658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zh-CN" altLang="en-US" sz="14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核心的文件系统快照模块，实现对指定目录下文件与文件夹的深度遍历，为后续变更对比提供基础数据。</a:t>
            </a:r>
            <a:endParaRPr lang="zh-CN" altLang="en-US" sz="14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080000" y="1778000"/>
            <a:ext cx="2082800" cy="1995805"/>
          </a:xfrm>
          <a:prstGeom prst="roundRect">
            <a:avLst>
              <a:gd name="adj" fmla="val 0"/>
            </a:avLst>
          </a:prstGeom>
          <a:solidFill>
            <a:srgbClr val="ECFDF5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080000" y="1778000"/>
            <a:ext cx="20828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143500" y="1879600"/>
            <a:ext cx="1955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ui.c</a:t>
            </a:r>
            <a:endParaRPr lang="en-US" sz="20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143500" y="2260600"/>
            <a:ext cx="1955800" cy="1361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zh-CN" altLang="en-US" sz="14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图形界面模块，提供用户可交互的操作窗口，包括保存路径选择、排除项设置等可视化功能。</a:t>
            </a:r>
            <a:endParaRPr lang="zh-CN" altLang="en-US" sz="14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239000" y="1778000"/>
            <a:ext cx="2082800" cy="1995805"/>
          </a:xfrm>
          <a:prstGeom prst="roundRect">
            <a:avLst>
              <a:gd name="adj" fmla="val 0"/>
            </a:avLst>
          </a:prstGeom>
          <a:solidFill>
            <a:srgbClr val="ECFDF5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239000" y="1778000"/>
            <a:ext cx="20828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302500" y="1879600"/>
            <a:ext cx="1955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output.c</a:t>
            </a:r>
            <a:endParaRPr lang="en-US" sz="20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302500" y="2261870"/>
            <a:ext cx="1955800" cy="1358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zh-CN" altLang="en-US" sz="14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统一的结果输出处理模块，负责将对比结果格式化，支持生成TXT、HTML 等多种格式的报告文件</a:t>
            </a:r>
            <a:r>
              <a:rPr lang="en-US" sz="12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398000" y="1778000"/>
            <a:ext cx="2082800" cy="1996440"/>
          </a:xfrm>
          <a:prstGeom prst="roundRect">
            <a:avLst>
              <a:gd name="adj" fmla="val 0"/>
            </a:avLst>
          </a:prstGeom>
          <a:solidFill>
            <a:srgbClr val="ECFDF5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398000" y="1778000"/>
            <a:ext cx="20828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9461500" y="1879600"/>
            <a:ext cx="1955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template.c</a:t>
            </a:r>
            <a:endParaRPr lang="en-US" sz="20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9461500" y="2261870"/>
            <a:ext cx="1955800" cy="1365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zh-CN" altLang="en-US" sz="14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输出模板的动态管理模块，负责加载预设模板头部格式，实现格式化的内容输出。</a:t>
            </a:r>
            <a:endParaRPr lang="zh-CN" altLang="en-US" sz="14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62000" y="4064000"/>
            <a:ext cx="3406775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2164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397000" y="41910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模块化设计思想</a:t>
            </a:r>
            <a:endParaRPr 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952500" y="4699000"/>
            <a:ext cx="3111500" cy="12700"/>
          </a:xfrm>
          <a:prstGeom prst="roundRect">
            <a:avLst>
              <a:gd name="adj" fmla="val 0"/>
            </a:avLst>
          </a:prstGeom>
          <a:solidFill>
            <a:srgbClr val="10B981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952500" y="4826000"/>
            <a:ext cx="3111500" cy="11195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zh-CN" altLang="en-US" sz="14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将复杂的系统功能进行科学解耦，形成独立的功能模块。这种设计不仅让逻辑更清晰，也为后续的功能迭代和跨平台移植提供了极佳的架构参考。</a:t>
            </a:r>
            <a:endParaRPr lang="zh-CN" altLang="en-US" sz="14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4406900" y="4064000"/>
            <a:ext cx="342265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42164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5041900" y="41910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注册表操作基础</a:t>
            </a:r>
            <a:endParaRPr 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4597400" y="4699000"/>
            <a:ext cx="3111500" cy="12700"/>
          </a:xfrm>
          <a:prstGeom prst="roundRect">
            <a:avLst>
              <a:gd name="adj" fmla="val 0"/>
            </a:avLst>
          </a:prstGeom>
          <a:solidFill>
            <a:srgbClr val="10B981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4597400" y="4826000"/>
            <a:ext cx="3111500" cy="11207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zh-CN" altLang="en-US" sz="14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深入掌握了Windows底层开发的关键技能，包括利用Win32 API 进行注册表项的递归枚举、键值的安全读取与快照存储，对于注册表结构也有了更深的理解</a:t>
            </a:r>
            <a:endParaRPr lang="zh-CN" altLang="en-US" sz="14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8064500" y="4064000"/>
            <a:ext cx="335661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4216400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8699500" y="41910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快照与对比原理</a:t>
            </a:r>
            <a:endParaRPr 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8255000" y="4699000"/>
            <a:ext cx="3111500" cy="12700"/>
          </a:xfrm>
          <a:prstGeom prst="roundRect">
            <a:avLst>
              <a:gd name="adj" fmla="val 0"/>
            </a:avLst>
          </a:prstGeom>
          <a:solidFill>
            <a:srgbClr val="10B981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8255000" y="4826000"/>
            <a:ext cx="3111500" cy="11569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zh-CN" altLang="en-US" sz="14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深入理解了快照拍摄和对比的核心技术机制。首先对注册表进行两次快照拍摄，然后遍历两次快照进行对比，确定修改、新增和删除的注册表键和值。</a:t>
            </a:r>
            <a:endParaRPr lang="zh-CN" altLang="en-US" sz="14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2" grpId="0"/>
      <p:bldP spid="12" grpId="1"/>
      <p:bldP spid="16" grpId="0"/>
      <p:bldP spid="16" grpId="1"/>
      <p:bldP spid="20" grpId="0"/>
      <p:bldP spid="20" grpId="1"/>
      <p:bldP spid="24" grpId="0"/>
      <p:bldP spid="24" grpId="1"/>
      <p:bldP spid="29" grpId="0"/>
      <p:bldP spid="29" grpId="1"/>
      <p:bldP spid="34" grpId="0"/>
      <p:bldP spid="34" grpId="1"/>
      <p:bldP spid="39" grpId="0"/>
      <p:bldP spid="3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191000" y="1143000"/>
            <a:ext cx="381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10B981">
                    <a:alpha val="25098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Noto Sans SC" panose="020B0200000000000000" charset="-122"/>
              </a:rPr>
              <a:t>03</a:t>
            </a:r>
            <a:endParaRPr lang="en-US" sz="12000" b="1" i="0" u="none" strike="noStrike">
              <a:solidFill>
                <a:srgbClr val="10B981">
                  <a:alpha val="25098"/>
                </a:srgb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3035300"/>
            <a:ext cx="1100391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ctr">
              <a:lnSpc>
                <a:spcPct val="125000"/>
              </a:lnSpc>
              <a:buSzTx/>
              <a:defRPr/>
            </a:pPr>
            <a:r>
              <a:rPr lang="en-US" sz="4400" b="1" i="0" u="none" strike="noStrike">
                <a:solidFill>
                  <a:srgbClr val="1F2937"/>
                </a:solidFill>
                <a:latin typeface="华文楷体" panose="02010600040101010101" charset="-122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小组成员分工</a:t>
            </a:r>
            <a:endParaRPr lang="en-US" sz="4400" b="1" i="0" u="none" strike="noStrike">
              <a:solidFill>
                <a:srgbClr val="1F2937"/>
              </a:solidFill>
              <a:latin typeface="华文楷体" panose="02010600040101010101" charset="-122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成员分工详情</a:t>
            </a:r>
            <a:endParaRPr lang="en-US" sz="4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5082540" cy="371475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 flipV="1">
            <a:off x="762000" y="1608455"/>
            <a:ext cx="5081905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889000" y="1778000"/>
            <a:ext cx="483997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陈展</a:t>
            </a:r>
            <a:r>
              <a:rPr lang="en-US" altLang="zh-CN" sz="20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 </a:t>
            </a:r>
            <a:r>
              <a:rPr lang="en-US" sz="2000" b="0" i="0" u="none" strike="noStrike">
                <a:solidFill>
                  <a:srgbClr val="64748B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| 2313485</a:t>
            </a:r>
            <a:endParaRPr lang="en-US" sz="2000"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889635" y="2222500"/>
            <a:ext cx="483997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项目负责人 &amp;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前端</a:t>
            </a:r>
            <a:r>
              <a:rPr lang="en-US" sz="18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开发 &amp;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框架设计</a:t>
            </a:r>
            <a:endParaRPr lang="zh-CN" altLang="en-US" sz="18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889000" y="2730500"/>
            <a:ext cx="4840605" cy="2145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利用</a:t>
            </a:r>
            <a:r>
              <a:rPr lang="en-US" altLang="zh-CN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Qt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搭建基础框代码架，构建双过滤层机制，实现前端样式代码（仿</a:t>
            </a:r>
            <a:r>
              <a:rPr lang="en-US" altLang="zh-CN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PyCharm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样式界面、完善的菜单栏、目录区、结果展示区、日志区、其余 </a:t>
            </a:r>
            <a:r>
              <a:rPr lang="en-US" altLang="zh-CN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UI 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组件），利用后端编写的</a:t>
            </a:r>
            <a:r>
              <a:rPr lang="en-US" altLang="zh-CN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API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实现前端逻辑处理代码（注册表结构树缓加载、配置修改、功能执行、本地存储），实现基于</a:t>
            </a:r>
            <a:r>
              <a:rPr lang="en-US" altLang="zh-CN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ETW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的注册表持续性监控功能。</a:t>
            </a:r>
            <a:endParaRPr lang="zh-CN" altLang="en-US" sz="16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6096000" y="1651000"/>
            <a:ext cx="5264150" cy="3714115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096000" y="1608455"/>
            <a:ext cx="526415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6223000" y="1778000"/>
            <a:ext cx="4989195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zh-CN" altLang="en-US" sz="20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段俊宇 </a:t>
            </a:r>
            <a:r>
              <a:rPr lang="en-US" sz="2000" i="0" u="none" strike="noStrike">
                <a:solidFill>
                  <a:srgbClr val="64748B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| 2313815</a:t>
            </a:r>
            <a:endParaRPr lang="en-US" sz="2000">
              <a:solidFill>
                <a:srgbClr val="64748B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6223000" y="2222500"/>
            <a:ext cx="498919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后端开发 &amp; 排除项设计</a:t>
            </a:r>
            <a:endParaRPr lang="en-US" sz="18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6223000" y="2730500"/>
            <a:ext cx="4989195" cy="1833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参考Regshot后端逻辑完成结构体设计、注册表快照的拍摄、保存、比较功能（在此基础上进行优化，适配64位系统更大的注册表），向前端提供API接口。参照Regshot已有的排除项设置新的排除项，细化范围。设置不同危险等级的第二层排除项，用于构建双过滤层机制。</a:t>
            </a:r>
            <a:endParaRPr lang="zh-CN" altLang="en-US" sz="16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3" grpId="0"/>
      <p:bldP spid="1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508500" y="1016000"/>
            <a:ext cx="317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ctr">
              <a:lnSpc>
                <a:spcPct val="125000"/>
              </a:lnSpc>
              <a:buSzTx/>
              <a:defRPr/>
            </a:pPr>
            <a:r>
              <a:rPr lang="en-US" sz="12000" b="1" i="0" u="none" strike="noStrike">
                <a:solidFill>
                  <a:srgbClr val="10B981">
                    <a:alpha val="25098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Noto Sans SC" panose="020B0200000000000000" charset="-122"/>
              </a:rPr>
              <a:t>04</a:t>
            </a:r>
            <a:endParaRPr lang="en-US" sz="12000" b="1" i="0" u="none" strike="noStrike">
              <a:solidFill>
                <a:srgbClr val="10B981">
                  <a:alpha val="25098"/>
                </a:srgb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2794000"/>
            <a:ext cx="1079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F2937"/>
                </a:solidFill>
                <a:latin typeface="华文楷体" panose="02010600040101010101" charset="-122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实验进度及后期工作安排</a:t>
            </a:r>
            <a:endParaRPr lang="en-US" sz="4400" b="1" i="0" u="none" strike="noStrike">
              <a:solidFill>
                <a:srgbClr val="1F2937"/>
              </a:solidFill>
              <a:latin typeface="华文楷体" panose="02010600040101010101" charset="-122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当前实验进度</a:t>
            </a:r>
            <a:endParaRPr lang="en-US" sz="4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505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5052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914400" y="1803400"/>
            <a:ext cx="3200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需求分析与技术选型</a:t>
            </a:r>
            <a:endParaRPr 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914400" y="2133600"/>
            <a:ext cx="32004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en-US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完成项目深度需求拆解，明确RegScope核心功能边界与非功能性指标，为后续开发确立了清晰的技术路线与执行标准。</a:t>
            </a:r>
            <a:endParaRPr lang="en-US" b="0" i="0" u="none" strike="noStrike">
              <a:solidFill>
                <a:srgbClr val="4B5563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14400" y="3111500"/>
            <a:ext cx="32004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" y="3187700"/>
            <a:ext cx="203200" cy="203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3175000"/>
            <a:ext cx="1079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endParaRPr lang="en-US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445000" y="1651000"/>
            <a:ext cx="3505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445000" y="1651000"/>
            <a:ext cx="35052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597400" y="1803400"/>
            <a:ext cx="3200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背景知识体系构建</a:t>
            </a:r>
            <a:endParaRPr 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597400" y="2133600"/>
            <a:ext cx="32004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深度理解Regshot核心源码逻辑，系统掌握 Qt 跨平台框架及Windows底层注册表操作API，夯实底层技术实现基础。</a:t>
            </a:r>
            <a:endParaRPr lang="en-US" sz="1400">
              <a:solidFill>
                <a:srgbClr val="4B5563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597400" y="3111500"/>
            <a:ext cx="32004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3600" y="3187700"/>
            <a:ext cx="203200" cy="203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953000" y="3175000"/>
            <a:ext cx="1079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endParaRPr lang="en-US" sz="12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128000" y="1651000"/>
            <a:ext cx="3505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128000" y="1651000"/>
            <a:ext cx="35052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280400" y="1803400"/>
            <a:ext cx="3200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标准化开发环境配置</a:t>
            </a:r>
            <a:endParaRPr 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8280400" y="2133600"/>
            <a:ext cx="32004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统一团队开发工具链，完成Qt Creator、MSVC 编译器与CMake构建系统的标准化部署，消除环境差异带来的协同阻碍。</a:t>
            </a:r>
            <a:endParaRPr lang="en-US" sz="1400" b="0" i="0" u="none" strike="noStrike">
              <a:solidFill>
                <a:srgbClr val="4B5563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280400" y="3111500"/>
            <a:ext cx="32004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6600" y="3187700"/>
            <a:ext cx="203200" cy="2032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8636000" y="3175000"/>
            <a:ext cx="1079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endParaRPr lang="en-US" sz="14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762000" y="4000500"/>
            <a:ext cx="10870565" cy="1898015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2" name="AutoShape 32"/>
          <p:cNvSpPr/>
          <p:nvPr/>
        </p:nvSpPr>
        <p:spPr>
          <a:xfrm flipV="1">
            <a:off x="762000" y="3942715"/>
            <a:ext cx="10870565" cy="8001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914400" y="4152900"/>
            <a:ext cx="495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核心项目工程框架搭建</a:t>
            </a:r>
            <a:endParaRPr 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914400" y="4488180"/>
            <a:ext cx="10567035" cy="5702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完成整体项目框架搭建，前端样式部分完成，</a:t>
            </a:r>
            <a:r>
              <a:rPr lang="en-US" sz="1400">
                <a:solidFill>
                  <a:srgbClr val="4B5563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后端注册表快照相关功能实现，前后端通过API接口实现注册表结构树、拍摄快照等基本功能。</a:t>
            </a:r>
            <a:endParaRPr lang="en-US" sz="1400" b="0" i="0" u="none" strike="noStrike">
              <a:solidFill>
                <a:srgbClr val="4B5563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914400" y="5181600"/>
            <a:ext cx="10567035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" y="5308600"/>
            <a:ext cx="203200" cy="2032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1270000" y="5295900"/>
            <a:ext cx="127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endParaRPr lang="en-US" sz="14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6" grpId="0"/>
      <p:bldP spid="16" grpId="1"/>
      <p:bldP spid="25" grpId="0"/>
      <p:bldP spid="25" grpId="1"/>
      <p:bldP spid="34" grpId="0"/>
      <p:bldP spid="34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后期工作安排</a:t>
            </a:r>
            <a:endParaRPr lang="en-US" sz="4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651000"/>
            <a:ext cx="508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952500" y="1778000"/>
            <a:ext cx="311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代码优化</a:t>
            </a:r>
            <a:endParaRPr lang="zh-CN" alt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952500" y="2134235"/>
            <a:ext cx="3111500" cy="10560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zh-CN" altLang="en-US">
                <a:latin typeface="Times New Roman" panose="02020603050405020304" charset="0"/>
                <a:ea typeface="华文楷体" panose="02010600040101010101" charset="-122"/>
              </a:rPr>
              <a:t>针对当前代码进行测试，优化代码中存在的逻辑问题，提升注册表快照拍摄、比较速度。</a:t>
            </a:r>
            <a:endParaRPr lang="zh-CN" altLang="en-US">
              <a:latin typeface="Times New Roman" panose="02020603050405020304" charset="0"/>
              <a:ea typeface="华文楷体" panose="02010600040101010101" charset="-122"/>
            </a:endParaR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4445000" y="1651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4445000" y="1651000"/>
            <a:ext cx="508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4635500" y="1778000"/>
            <a:ext cx="311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排除项设置</a:t>
            </a:r>
            <a:endParaRPr lang="zh-CN" alt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4635500" y="2132965"/>
            <a:ext cx="3111500" cy="10579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zh-CN" altLang="en-US" sz="1400" b="0" i="0" u="none" strike="noStrike">
                <a:latin typeface="Times New Roman" panose="02020603050405020304" charset="0"/>
                <a:ea typeface="华文楷体" panose="02010600040101010101" charset="-122"/>
                <a:sym typeface="Noto Sans SC" panose="020B0200000000000000" charset="-122"/>
              </a:rPr>
              <a:t>查询资料、排查原有排除项功能，包括细化排除项范围、移除无权限或无用排除项，增加新排除项。</a:t>
            </a:r>
            <a:endParaRPr lang="zh-CN" altLang="en-US" sz="1400" b="0" i="0" u="none" strike="noStrike">
              <a:latin typeface="Times New Roman" panose="02020603050405020304" charset="0"/>
              <a:ea typeface="华文楷体" panose="02010600040101010101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8128000" y="1651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8128000" y="1651000"/>
            <a:ext cx="508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7" name="AutoShape 17"/>
          <p:cNvSpPr/>
          <p:nvPr>
            <p:custDataLst>
              <p:tags r:id="rId12"/>
            </p:custDataLst>
          </p:nvPr>
        </p:nvSpPr>
        <p:spPr>
          <a:xfrm>
            <a:off x="8318500" y="1777365"/>
            <a:ext cx="311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zh-CN" alt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实现注册表持续监控</a:t>
            </a:r>
            <a:endParaRPr lang="zh-CN" alt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3"/>
            </p:custDataLst>
          </p:nvPr>
        </p:nvSpPr>
        <p:spPr>
          <a:xfrm>
            <a:off x="8318500" y="2133600"/>
            <a:ext cx="3111500" cy="7854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 eaLnBrk="1" fontAlgn="auto" latinLnBrk="0" hangingPunct="1">
              <a:lnSpc>
                <a:spcPct val="150000"/>
              </a:lnSpc>
              <a:buSzTx/>
              <a:defRPr/>
            </a:pPr>
            <a:r>
              <a:rPr lang="zh-CN" altLang="en-US" sz="1400" b="0" i="0" u="none" strike="noStrike">
                <a:latin typeface="Times New Roman" panose="02020603050405020304" charset="0"/>
                <a:ea typeface="华文楷体" panose="02010600040101010101" charset="-122"/>
                <a:sym typeface="Noto Sans SC" panose="020B0200000000000000" charset="-122"/>
              </a:rPr>
              <a:t>实现</a:t>
            </a:r>
            <a:r>
              <a:rPr lang="zh-CN" altLang="en-US" sz="1400">
                <a:latin typeface="Times New Roman" panose="02020603050405020304" charset="0"/>
                <a:ea typeface="华文楷体" panose="02010600040101010101" charset="-122"/>
                <a:sym typeface="Noto Sans SC" panose="020B0200000000000000" charset="-122"/>
              </a:rPr>
              <a:t>基于ETW的注册表持续性监控功能，构建基于排除项的双过滤层。</a:t>
            </a:r>
            <a:endParaRPr lang="zh-CN" altLang="en-US" sz="1400" b="0" i="0" u="none" strike="noStrike">
              <a:latin typeface="Times New Roman" panose="02020603050405020304" charset="0"/>
              <a:ea typeface="华文楷体" panose="02010600040101010101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4000500"/>
            <a:ext cx="10858500" cy="1410335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20" name="AutoShape 20"/>
          <p:cNvSpPr/>
          <p:nvPr/>
        </p:nvSpPr>
        <p:spPr>
          <a:xfrm flipH="1">
            <a:off x="736600" y="4000500"/>
            <a:ext cx="76835" cy="141097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52500" y="4216400"/>
            <a:ext cx="469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zh-CN" alt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软件测试与报告撰写</a:t>
            </a:r>
            <a:endParaRPr lang="zh-CN" alt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952500" y="4572000"/>
            <a:ext cx="10477500" cy="6038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just">
              <a:lnSpc>
                <a:spcPct val="150000"/>
              </a:lnSpc>
              <a:buSzTx/>
              <a:buNone/>
              <a:defRPr/>
            </a:pPr>
            <a:r>
              <a:rPr lang="zh-CN" altLang="en-US" sz="1400" b="0" i="0" u="none" strike="noStrike">
                <a:latin typeface="Times New Roman" panose="02020603050405020304" charset="0"/>
                <a:ea typeface="华文楷体" panose="02010600040101010101" charset="-122"/>
                <a:sym typeface="Noto Sans SC" panose="020B0200000000000000" charset="-122"/>
              </a:rPr>
              <a:t>测试软件功能，继续优化代码，排查可能存在的问题。功能测试无误后，向github上传项目源码及用户手册。</a:t>
            </a:r>
            <a:r>
              <a:rPr lang="zh-CN" altLang="en-US" sz="1400">
                <a:latin typeface="Times New Roman" panose="02020603050405020304" charset="0"/>
                <a:ea typeface="华文楷体" panose="02010600040101010101" charset="-122"/>
                <a:sym typeface="Noto Sans SC" panose="020B0200000000000000" charset="-122"/>
              </a:rPr>
              <a:t>撰写大作业实验报告，描述软件功能细节，</a:t>
            </a:r>
            <a:r>
              <a:rPr lang="zh-CN" altLang="en-US" sz="1400" b="0" i="0" u="none" strike="noStrike">
                <a:latin typeface="Times New Roman" panose="02020603050405020304" charset="0"/>
                <a:ea typeface="华文楷体" panose="02010600040101010101" charset="-122"/>
                <a:sym typeface="Noto Sans SC" panose="020B0200000000000000" charset="-122"/>
              </a:rPr>
              <a:t>制作结题汇报PPT。</a:t>
            </a:r>
            <a:endParaRPr lang="zh-CN" altLang="en-US" sz="1400" b="0" i="0" u="none" strike="noStrike">
              <a:latin typeface="Times New Roman" panose="02020603050405020304" charset="0"/>
              <a:ea typeface="华文楷体" panose="02010600040101010101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3" grpId="0"/>
      <p:bldP spid="13" grpId="1"/>
      <p:bldP spid="18" grpId="0"/>
      <p:bldP spid="18" grpId="1"/>
      <p:bldP spid="23" grpId="0"/>
      <p:bldP spid="2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477645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600" b="1" i="0" u="none" strike="noStrike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6600" b="1" i="0" u="none" strike="noStrike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6"/>
          <p:cNvSpPr/>
          <p:nvPr/>
        </p:nvSpPr>
        <p:spPr>
          <a:xfrm>
            <a:off x="4762500" y="4043045"/>
            <a:ext cx="266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 panose="020B0200000000000000" charset="-122"/>
              </a:rPr>
              <a:t>小组成员：陈展</a:t>
            </a:r>
            <a:r>
              <a:rPr lang="en-US" altLang="zh-CN" sz="2000" b="1" i="0" u="none" strike="noStrike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 panose="020B0200000000000000" charset="-122"/>
              </a:rPr>
              <a:t> </a:t>
            </a:r>
            <a:r>
              <a:rPr lang="zh-CN" altLang="en-US" sz="2000" b="1" i="0" u="none" strike="noStrike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 panose="020B0200000000000000" charset="-122"/>
              </a:rPr>
              <a:t>段俊宇</a:t>
            </a:r>
            <a:endParaRPr lang="zh-CN" altLang="en-US" sz="2000" b="1" i="0" u="none" strike="noStrike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2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3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4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5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6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7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8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9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10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11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12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13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14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15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16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17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18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19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20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21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22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23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24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25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26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27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28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29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0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1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2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3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4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5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6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7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8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9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40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41.xml><?xml version="1.0" encoding="utf-8"?>
<p:tagLst xmlns:p="http://schemas.openxmlformats.org/presentationml/2006/main">
  <p:tag name="KSO_WM_DIAGRAM_VIRTUALLY_FRAME" val="{&quot;height&quot;:333.55,&quot;left&quot;:60,&quot;top&quot;:129.95,&quot;width&quot;:762.9}"/>
</p:tagLst>
</file>

<file path=ppt/tags/tag42.xml><?xml version="1.0" encoding="utf-8"?>
<p:tagLst xmlns:p="http://schemas.openxmlformats.org/presentationml/2006/main">
  <p:tag name="KSO_WM_DIAGRAM_VIRTUALLY_FRAME" val="{&quot;height&quot;:333.55,&quot;left&quot;:60,&quot;top&quot;:129.95,&quot;width&quot;:762.9}"/>
</p:tagLst>
</file>

<file path=ppt/tags/tag43.xml><?xml version="1.0" encoding="utf-8"?>
<p:tagLst xmlns:p="http://schemas.openxmlformats.org/presentationml/2006/main">
  <p:tag name="KSO_WM_DIAGRAM_VIRTUALLY_FRAME" val="{&quot;height&quot;:333.55,&quot;left&quot;:60,&quot;top&quot;:129.95,&quot;width&quot;:762.9}"/>
</p:tagLst>
</file>

<file path=ppt/tags/tag44.xml><?xml version="1.0" encoding="utf-8"?>
<p:tagLst xmlns:p="http://schemas.openxmlformats.org/presentationml/2006/main">
  <p:tag name="KSO_WM_DIAGRAM_VIRTUALLY_FRAME" val="{&quot;height&quot;:333.55,&quot;left&quot;:60,&quot;top&quot;:129.95,&quot;width&quot;:762.9}"/>
</p:tagLst>
</file>

<file path=ppt/tags/tag45.xml><?xml version="1.0" encoding="utf-8"?>
<p:tagLst xmlns:p="http://schemas.openxmlformats.org/presentationml/2006/main">
  <p:tag name="KSO_WM_DIAGRAM_VIRTUALLY_FRAME" val="{&quot;height&quot;:333.55,&quot;left&quot;:60,&quot;top&quot;:129.95,&quot;width&quot;:762.9}"/>
</p:tagLst>
</file>

<file path=ppt/tags/tag46.xml><?xml version="1.0" encoding="utf-8"?>
<p:tagLst xmlns:p="http://schemas.openxmlformats.org/presentationml/2006/main">
  <p:tag name="KSO_WM_DIAGRAM_VIRTUALLY_FRAME" val="{&quot;height&quot;:333.55,&quot;left&quot;:60,&quot;top&quot;:129.95,&quot;width&quot;:762.9}"/>
</p:tagLst>
</file>

<file path=ppt/tags/tag47.xml><?xml version="1.0" encoding="utf-8"?>
<p:tagLst xmlns:p="http://schemas.openxmlformats.org/presentationml/2006/main">
  <p:tag name="KSO_WM_DIAGRAM_VIRTUALLY_FRAME" val="{&quot;height&quot;:333.55,&quot;left&quot;:60,&quot;top&quot;:129.95,&quot;width&quot;:762.9}"/>
</p:tagLst>
</file>

<file path=ppt/tags/tag48.xml><?xml version="1.0" encoding="utf-8"?>
<p:tagLst xmlns:p="http://schemas.openxmlformats.org/presentationml/2006/main">
  <p:tag name="KSO_WM_DIAGRAM_VIRTUALLY_FRAME" val="{&quot;height&quot;:333.55,&quot;left&quot;:60,&quot;top&quot;:129.95,&quot;width&quot;:762.9}"/>
</p:tagLst>
</file>

<file path=ppt/tags/tag49.xml><?xml version="1.0" encoding="utf-8"?>
<p:tagLst xmlns:p="http://schemas.openxmlformats.org/presentationml/2006/main">
  <p:tag name="KSO_WM_DIAGRAM_VIRTUALLY_FRAME" val="{&quot;height&quot;:333.55,&quot;left&quot;:60,&quot;top&quot;:129.95,&quot;width&quot;:762.9}"/>
</p:tagLst>
</file>

<file path=ppt/tags/tag50.xml><?xml version="1.0" encoding="utf-8"?>
<p:tagLst xmlns:p="http://schemas.openxmlformats.org/presentationml/2006/main">
  <p:tag name="KSO_WM_DIAGRAM_VIRTUALLY_FRAME" val="{&quot;height&quot;:333.55,&quot;left&quot;:60,&quot;top&quot;:129.95,&quot;width&quot;:762.9}"/>
</p:tagLst>
</file>

<file path=ppt/tags/tag51.xml><?xml version="1.0" encoding="utf-8"?>
<p:tagLst xmlns:p="http://schemas.openxmlformats.org/presentationml/2006/main">
  <p:tag name="KSO_WM_DIAGRAM_VIRTUALLY_FRAME" val="{&quot;height&quot;:333.55,&quot;left&quot;:60,&quot;top&quot;:129.95,&quot;width&quot;:762.9}"/>
</p:tagLst>
</file>

<file path=ppt/tags/tag52.xml><?xml version="1.0" encoding="utf-8"?>
<p:tagLst xmlns:p="http://schemas.openxmlformats.org/presentationml/2006/main">
  <p:tag name="KSO_WM_DIAGRAM_VIRTUALLY_FRAME" val="{&quot;height&quot;:333.55,&quot;left&quot;:60,&quot;top&quot;:129.95,&quot;width&quot;:762.9}"/>
</p:tagLst>
</file>

<file path=ppt/tags/tag53.xml><?xml version="1.0" encoding="utf-8"?>
<p:tagLst xmlns:p="http://schemas.openxmlformats.org/presentationml/2006/main">
  <p:tag name="KSO_WM_DIAGRAM_VIRTUALLY_FRAME" val="{&quot;height&quot;:295.85,&quot;left&quot;:60,&quot;top&quot;:126.65,&quot;width&quot;:850}"/>
</p:tagLst>
</file>

<file path=ppt/tags/tag54.xml><?xml version="1.0" encoding="utf-8"?>
<p:tagLst xmlns:p="http://schemas.openxmlformats.org/presentationml/2006/main">
  <p:tag name="KSO_WM_DIAGRAM_VIRTUALLY_FRAME" val="{&quot;height&quot;:295.85,&quot;left&quot;:60,&quot;top&quot;:126.65,&quot;width&quot;:850}"/>
</p:tagLst>
</file>

<file path=ppt/tags/tag55.xml><?xml version="1.0" encoding="utf-8"?>
<p:tagLst xmlns:p="http://schemas.openxmlformats.org/presentationml/2006/main">
  <p:tag name="KSO_WM_DIAGRAM_VIRTUALLY_FRAME" val="{&quot;height&quot;:295.85,&quot;left&quot;:60,&quot;top&quot;:126.65,&quot;width&quot;:850}"/>
</p:tagLst>
</file>

<file path=ppt/tags/tag56.xml><?xml version="1.0" encoding="utf-8"?>
<p:tagLst xmlns:p="http://schemas.openxmlformats.org/presentationml/2006/main">
  <p:tag name="KSO_WM_DIAGRAM_VIRTUALLY_FRAME" val="{&quot;height&quot;:295.85,&quot;left&quot;:60,&quot;top&quot;:126.65,&quot;width&quot;:850}"/>
</p:tagLst>
</file>

<file path=ppt/tags/tag57.xml><?xml version="1.0" encoding="utf-8"?>
<p:tagLst xmlns:p="http://schemas.openxmlformats.org/presentationml/2006/main">
  <p:tag name="KSO_WM_DIAGRAM_VIRTUALLY_FRAME" val="{&quot;height&quot;:295.85,&quot;left&quot;:60,&quot;top&quot;:126.65,&quot;width&quot;:850}"/>
</p:tagLst>
</file>

<file path=ppt/tags/tag58.xml><?xml version="1.0" encoding="utf-8"?>
<p:tagLst xmlns:p="http://schemas.openxmlformats.org/presentationml/2006/main">
  <p:tag name="KSO_WM_DIAGRAM_VIRTUALLY_FRAME" val="{&quot;height&quot;:295.85,&quot;left&quot;:60,&quot;top&quot;:126.65,&quot;width&quot;:850}"/>
</p:tagLst>
</file>

<file path=ppt/tags/tag59.xml><?xml version="1.0" encoding="utf-8"?>
<p:tagLst xmlns:p="http://schemas.openxmlformats.org/presentationml/2006/main">
  <p:tag name="KSO_WM_DIAGRAM_VIRTUALLY_FRAME" val="{&quot;height&quot;:295.85,&quot;left&quot;:60,&quot;top&quot;:126.65,&quot;width&quot;:850}"/>
</p:tagLst>
</file>

<file path=ppt/tags/tag60.xml><?xml version="1.0" encoding="utf-8"?>
<p:tagLst xmlns:p="http://schemas.openxmlformats.org/presentationml/2006/main">
  <p:tag name="KSO_WM_DIAGRAM_VIRTUALLY_FRAME" val="{&quot;height&quot;:295.85,&quot;left&quot;:60,&quot;top&quot;:126.65,&quot;width&quot;:850}"/>
</p:tagLst>
</file>

<file path=ppt/tags/tag61.xml><?xml version="1.0" encoding="utf-8"?>
<p:tagLst xmlns:p="http://schemas.openxmlformats.org/presentationml/2006/main">
  <p:tag name="KSO_WM_DIAGRAM_VIRTUALLY_FRAME" val="{&quot;height&quot;:295.85,&quot;left&quot;:60,&quot;top&quot;:126.65,&quot;width&quot;:850}"/>
</p:tagLst>
</file>

<file path=ppt/tags/tag62.xml><?xml version="1.0" encoding="utf-8"?>
<p:tagLst xmlns:p="http://schemas.openxmlformats.org/presentationml/2006/main">
  <p:tag name="KSO_WM_DIAGRAM_VIRTUALLY_FRAME" val="{&quot;height&quot;:295.85,&quot;left&quot;:60,&quot;top&quot;:126.65,&quot;width&quot;:850}"/>
</p:tagLst>
</file>

<file path=ppt/tags/tag63.xml><?xml version="1.0" encoding="utf-8"?>
<p:tagLst xmlns:p="http://schemas.openxmlformats.org/presentationml/2006/main">
  <p:tag name="KSO_WM_DIAGRAM_VIRTUALLY_FRAME" val="{&quot;height&quot;:165,&quot;left&quot;:60,&quot;top&quot;:130,&quot;width&quot;:855}"/>
</p:tagLst>
</file>

<file path=ppt/tags/tag64.xml><?xml version="1.0" encoding="utf-8"?>
<p:tagLst xmlns:p="http://schemas.openxmlformats.org/presentationml/2006/main">
  <p:tag name="KSO_WM_DIAGRAM_VIRTUALLY_FRAME" val="{&quot;height&quot;:165,&quot;left&quot;:60,&quot;top&quot;:130,&quot;width&quot;:855}"/>
</p:tagLst>
</file>

<file path=ppt/tags/tag65.xml><?xml version="1.0" encoding="utf-8"?>
<p:tagLst xmlns:p="http://schemas.openxmlformats.org/presentationml/2006/main">
  <p:tag name="KSO_WM_DIAGRAM_VIRTUALLY_FRAME" val="{&quot;height&quot;:165,&quot;left&quot;:60,&quot;top&quot;:130,&quot;width&quot;:855}"/>
</p:tagLst>
</file>

<file path=ppt/tags/tag66.xml><?xml version="1.0" encoding="utf-8"?>
<p:tagLst xmlns:p="http://schemas.openxmlformats.org/presentationml/2006/main">
  <p:tag name="KSO_WM_DIAGRAM_VIRTUALLY_FRAME" val="{&quot;height&quot;:165,&quot;left&quot;:60,&quot;top&quot;:130,&quot;width&quot;:855}"/>
</p:tagLst>
</file>

<file path=ppt/tags/tag67.xml><?xml version="1.0" encoding="utf-8"?>
<p:tagLst xmlns:p="http://schemas.openxmlformats.org/presentationml/2006/main">
  <p:tag name="KSO_WM_DIAGRAM_VIRTUALLY_FRAME" val="{&quot;height&quot;:165,&quot;left&quot;:60,&quot;top&quot;:130,&quot;width&quot;:855}"/>
</p:tagLst>
</file>

<file path=ppt/tags/tag68.xml><?xml version="1.0" encoding="utf-8"?>
<p:tagLst xmlns:p="http://schemas.openxmlformats.org/presentationml/2006/main">
  <p:tag name="KSO_WM_DIAGRAM_VIRTUALLY_FRAME" val="{&quot;height&quot;:165,&quot;left&quot;:60,&quot;top&quot;:130,&quot;width&quot;:855}"/>
</p:tagLst>
</file>

<file path=ppt/tags/tag69.xml><?xml version="1.0" encoding="utf-8"?>
<p:tagLst xmlns:p="http://schemas.openxmlformats.org/presentationml/2006/main">
  <p:tag name="KSO_WM_DIAGRAM_VIRTUALLY_FRAME" val="{&quot;height&quot;:165,&quot;left&quot;:60,&quot;top&quot;:130,&quot;width&quot;:855}"/>
</p:tagLst>
</file>

<file path=ppt/tags/tag70.xml><?xml version="1.0" encoding="utf-8"?>
<p:tagLst xmlns:p="http://schemas.openxmlformats.org/presentationml/2006/main">
  <p:tag name="KSO_WM_DIAGRAM_VIRTUALLY_FRAME" val="{&quot;height&quot;:165,&quot;left&quot;:60,&quot;top&quot;:130,&quot;width&quot;:855}"/>
</p:tagLst>
</file>

<file path=ppt/tags/tag71.xml><?xml version="1.0" encoding="utf-8"?>
<p:tagLst xmlns:p="http://schemas.openxmlformats.org/presentationml/2006/main">
  <p:tag name="KSO_WM_DIAGRAM_VIRTUALLY_FRAME" val="{&quot;height&quot;:165,&quot;left&quot;:60,&quot;top&quot;:130,&quot;width&quot;:855}"/>
</p:tagLst>
</file>

<file path=ppt/tags/tag72.xml><?xml version="1.0" encoding="utf-8"?>
<p:tagLst xmlns:p="http://schemas.openxmlformats.org/presentationml/2006/main">
  <p:tag name="KSO_WM_DIAGRAM_VIRTUALLY_FRAME" val="{&quot;height&quot;:165,&quot;left&quot;:60,&quot;top&quot;:130,&quot;width&quot;:855}"/>
</p:tagLst>
</file>

<file path=ppt/tags/tag73.xml><?xml version="1.0" encoding="utf-8"?>
<p:tagLst xmlns:p="http://schemas.openxmlformats.org/presentationml/2006/main">
  <p:tag name="KSO_WM_DIAGRAM_VIRTUALLY_FRAME" val="{&quot;height&quot;:165,&quot;left&quot;:60,&quot;top&quot;:130,&quot;width&quot;:855}"/>
</p:tagLst>
</file>

<file path=ppt/tags/tag74.xml><?xml version="1.0" encoding="utf-8"?>
<p:tagLst xmlns:p="http://schemas.openxmlformats.org/presentationml/2006/main">
  <p:tag name="KSO_WM_DIAGRAM_VIRTUALLY_FRAME" val="{&quot;height&quot;:165,&quot;left&quot;:60,&quot;top&quot;:130,&quot;width&quot;:85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2638</Words>
  <Application>WPS 演示</Application>
  <PresentationFormat/>
  <Paragraphs>218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Arial</vt:lpstr>
      <vt:lpstr>Times New Roman</vt:lpstr>
      <vt:lpstr>华文楷体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米大大</cp:lastModifiedBy>
  <cp:revision>37</cp:revision>
  <dcterms:created xsi:type="dcterms:W3CDTF">2026-05-28T12:28:00Z</dcterms:created>
  <dcterms:modified xsi:type="dcterms:W3CDTF">2026-05-29T02:24:31Z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{"Label":"1","ContentProducer":"001191110102MACQD9K64010000","ProduceID":"7644913401604508608","ReservedCode1":"","ContentPropagator":"","PropagateID":"","ReservedCode2":""}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300D8BDB2A2A40C89976A462246529FC_12</vt:lpwstr>
  </property>
</Properties>
</file>