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</p:sldMasterIdLst>
  <p:notesMasterIdLst>
    <p:notesMasterId r:id="rId10"/>
  </p:notesMasterIdLst>
  <p:sldIdLst>
    <p:sldId id="256" r:id="rId9"/>
    <p:sldId id="257" r:id="rId11"/>
    <p:sldId id="258" r:id="rId12"/>
    <p:sldId id="260" r:id="rId13"/>
    <p:sldId id="277" r:id="rId14"/>
    <p:sldId id="263" r:id="rId15"/>
    <p:sldId id="264" r:id="rId16"/>
    <p:sldId id="273" r:id="rId17"/>
    <p:sldId id="274" r:id="rId18"/>
    <p:sldId id="275" r:id="rId19"/>
    <p:sldId id="276" r:id="rId20"/>
    <p:sldId id="267" r:id="rId21"/>
    <p:sldId id="268" r:id="rId22"/>
    <p:sldId id="272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747775"/>
          </p15:clr>
        </p15:guide>
        <p15:guide id="2" pos="3039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84"/>
        <p:guide pos="3039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们是RegScope项目组。今天非常荣幸能在这里向大家汇报我们项目的中期进展。RegScope是一款旨在革新传统注册表监控方式的新一代工具。在接下来的时间里，我们将详细介绍项目的背景、我们的技术方案、目前的进展以及未来的规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四个部分。首先，我们会介绍项目的选题背景和整体概述，阐明我们为什么要做这个项目以及打算怎么做。接着，会分享我们前期的准备工作和知识储备。之后，是团队成员的分工介绍。最后，我们会详细说明当前的实验进度和后续的工作安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现在，让我们进入第一部分：选题背景与项目概述。在这一章，我们将深入探讨我们项目的出发点，分析现有工具的不足之处，并提出我们的解决方案。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以大家熟知的Regshot为例，它的局限性非常典型。首先，它不是实时的，需要手动去做两次快照然后对比。其次，它只告诉你结果，却无法告诉你这个修改是哪个程序干的。最后，它的界面和输出都比较原始，分析起来很费劲。这些正是我们项目要解决的核心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以大家熟知的Regshot为例，它的局限性非常典型。首先，它不是实时的，需要手动去做两次快照然后对比。其次，它只告诉你结果，却无法告诉你这个修改是哪个程序干的。最后，它的界面和输出都比较原始，分析起来很费劲。这些正是我们项目要解决的核心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接下来进入第二部分，介绍我们在项目启动初期所做的准备工作和知识储备。这包括了开发环境的搭建和对相关技术的深入学习。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工欲善其事，必先利其器。我们为项目搭建了统一的开发环境，包括Windows 10/11操作系统，使用Qt Creator作为IDE，配合MSVC编译器和CMake构建系统。同时，使用Git进行版本控制，确保团队协作的顺畅。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工欲善其事，必先利其器。我们为项目搭建了统一的开发环境，包括Windows 10/11操作系统，使用Qt Creator作为IDE，配合MSVC编译器和CMake构建系统。同时，使用Git进行版本控制，确保团队协作的顺畅。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工欲善其事，必先利其器。我们为项目搭建了统一的开发环境，包括Windows 10/11操作系统，使用Qt Creator作为IDE，配合MSVC编译器和CMake构建系统。同时，使用Git进行版本控制，确保团队协作的顺畅。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工欲善其事，必先利其器。我们为项目搭建了统一的开发环境，包括Windows 10/11操作系统，使用Qt Creator作为IDE，配合MSVC编译器和CMake构建系统。同时，使用Git进行版本控制，确保团队协作的顺畅。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工欲善其事，必先利其器。我们为项目搭建了统一的开发环境，包括Windows 10/11操作系统，使用Qt Creator作为IDE，配合MSVC编译器和CMake构建系统。同时，使用Git进行版本控制，确保团队协作的顺畅。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一个成功的项目离不开团队成员的紧密协作。在第三部分，我们将介绍团队成员的分工情况。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团队共有四名成员。张三作为项目负责人，主要负责后端核心开发。李四负责前端开发和UI设计。王五负责系统集成与测试，保证软件质量。赵六则负责文档撰写和技术研究支持。通过明确的分工，我们确保了项目的每个环节都有专人负责，高效推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我的汇报到此结束，感谢各位老师和同学的聆听。我们非常乐意回答大家可能有的任何问题。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7" Type="http://schemas.openxmlformats.org/officeDocument/2006/relationships/notesSlide" Target="../notesSlides/notesSlide4.xml"/><Relationship Id="rId26" Type="http://schemas.openxmlformats.org/officeDocument/2006/relationships/slideLayout" Target="../slideLayouts/slideLayout12.xml"/><Relationship Id="rId25" Type="http://schemas.openxmlformats.org/officeDocument/2006/relationships/image" Target="../media/image6.png"/><Relationship Id="rId24" Type="http://schemas.openxmlformats.org/officeDocument/2006/relationships/tags" Target="../tags/tag35.xml"/><Relationship Id="rId23" Type="http://schemas.openxmlformats.org/officeDocument/2006/relationships/image" Target="../media/image5.png"/><Relationship Id="rId22" Type="http://schemas.openxmlformats.org/officeDocument/2006/relationships/tags" Target="../tags/tag34.xml"/><Relationship Id="rId21" Type="http://schemas.openxmlformats.org/officeDocument/2006/relationships/image" Target="../media/image4.png"/><Relationship Id="rId20" Type="http://schemas.openxmlformats.org/officeDocument/2006/relationships/tags" Target="../tags/tag33.xml"/><Relationship Id="rId2" Type="http://schemas.openxmlformats.org/officeDocument/2006/relationships/tags" Target="../tags/tag16.xml"/><Relationship Id="rId19" Type="http://schemas.openxmlformats.org/officeDocument/2006/relationships/image" Target="../media/image3.png"/><Relationship Id="rId18" Type="http://schemas.openxmlformats.org/officeDocument/2006/relationships/tags" Target="../tags/tag32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7.jpeg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8.jpeg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4.xml"/><Relationship Id="rId5" Type="http://schemas.openxmlformats.org/officeDocument/2006/relationships/tags" Target="../tags/tag44.xml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tags" Target="../tags/tag43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5.xml"/><Relationship Id="rId6" Type="http://schemas.openxmlformats.org/officeDocument/2006/relationships/tags" Target="../tags/tag46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tags" Target="../tags/tag45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6.xml"/><Relationship Id="rId6" Type="http://schemas.openxmlformats.org/officeDocument/2006/relationships/tags" Target="../tags/tag48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tags" Target="../tags/tag47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039235" y="1630045"/>
            <a:ext cx="433895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600" b="1" i="0" u="none" strike="noStrike">
                <a:solidFill>
                  <a:srgbClr val="FFFFFF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RegScope</a:t>
            </a:r>
            <a:endParaRPr lang="en-US" sz="6600" b="1" i="0" u="none" strike="noStrike">
              <a:solidFill>
                <a:srgbClr val="FFFFFF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520440" y="3221990"/>
            <a:ext cx="538797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FFFFFF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信息安全综合实验</a:t>
            </a:r>
            <a:r>
              <a:rPr lang="en-US" sz="2800" b="1">
                <a:solidFill>
                  <a:srgbClr val="FFFFFF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大作业</a:t>
            </a:r>
            <a:r>
              <a:rPr lang="zh-CN" altLang="en-US" sz="2800" b="1">
                <a:solidFill>
                  <a:srgbClr val="FFFFFF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结题</a:t>
            </a:r>
            <a:r>
              <a:rPr lang="en-US" sz="2800" b="1">
                <a:solidFill>
                  <a:srgbClr val="FFFFFF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汇报</a:t>
            </a:r>
            <a:endParaRPr lang="en-US" sz="2800" b="0" i="0" u="none" strike="noStrike">
              <a:solidFill>
                <a:srgbClr val="FFFFFF">
                  <a:alpha val="98039"/>
                </a:srgbClr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762500" y="4800600"/>
            <a:ext cx="266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FFFFFF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小组成员：陈展</a:t>
            </a:r>
            <a:r>
              <a:rPr lang="en-US" altLang="zh-CN" sz="2000" b="1" i="0" u="none" strike="noStrike">
                <a:solidFill>
                  <a:srgbClr val="FFFFFF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 </a:t>
            </a:r>
            <a:r>
              <a:rPr lang="zh-CN" altLang="en-US" sz="2000" b="1" i="0" u="none" strike="noStrike">
                <a:solidFill>
                  <a:srgbClr val="FFFFFF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段俊宇</a:t>
            </a:r>
            <a:endParaRPr lang="zh-CN" altLang="en-US" sz="2000" b="1" i="0" u="none" strike="noStrike">
              <a:solidFill>
                <a:srgbClr val="FFFFFF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目录 CONTENTS</a:t>
            </a:r>
            <a:endParaRPr lang="en-US" sz="32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2667000" cy="221107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651000"/>
            <a:ext cx="266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1746250" y="18415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01</a:t>
            </a:r>
            <a:endParaRPr lang="en-US" sz="36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952500" y="2476500"/>
            <a:ext cx="234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实验过程总结</a:t>
            </a:r>
            <a:endParaRPr lang="zh-CN" alt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841375" y="3081655"/>
            <a:ext cx="2460625" cy="5581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总结实验过程各个阶段及遇到的问题</a:t>
            </a:r>
            <a:endParaRPr lang="zh-CN" altLang="en-US" sz="16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4535805" y="1651000"/>
            <a:ext cx="2667000" cy="221107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4535805" y="1651000"/>
            <a:ext cx="266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5488305" y="1842135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02</a:t>
            </a:r>
            <a:endParaRPr lang="en-US" sz="36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4694555" y="2477135"/>
            <a:ext cx="234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ctr">
              <a:lnSpc>
                <a:spcPct val="125000"/>
              </a:lnSpc>
              <a:buSzTx/>
              <a:defRPr/>
            </a:pPr>
            <a:r>
              <a:rPr lang="zh-CN" alt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结果展示</a:t>
            </a:r>
            <a:endParaRPr lang="zh-CN" alt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4601210" y="2984500"/>
            <a:ext cx="2526665" cy="5568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ctr">
              <a:lnSpc>
                <a:spcPct val="108000"/>
              </a:lnSpc>
              <a:buSzTx/>
              <a:defRPr/>
            </a:pP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通过图片展示软件基本功能</a:t>
            </a:r>
            <a:endParaRPr lang="zh-CN" altLang="en-US" sz="16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8436610" y="1651000"/>
            <a:ext cx="2667000" cy="221107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8436610" y="1651000"/>
            <a:ext cx="266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16" name="AutoShape 16"/>
          <p:cNvSpPr/>
          <p:nvPr>
            <p:custDataLst>
              <p:tags r:id="rId14"/>
            </p:custDataLst>
          </p:nvPr>
        </p:nvSpPr>
        <p:spPr>
          <a:xfrm>
            <a:off x="9400540" y="18415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03</a:t>
            </a:r>
            <a:endParaRPr lang="en-US" sz="3600" b="1" i="0" u="none" strike="noStrike">
              <a:solidFill>
                <a:srgbClr val="10B98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5"/>
            </p:custDataLst>
          </p:nvPr>
        </p:nvSpPr>
        <p:spPr>
          <a:xfrm>
            <a:off x="8595360" y="2476500"/>
            <a:ext cx="234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ctr">
              <a:lnSpc>
                <a:spcPct val="125000"/>
              </a:lnSpc>
              <a:buSzTx/>
              <a:defRPr/>
            </a:pPr>
            <a:r>
              <a:rPr lang="zh-CN" alt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持续改进</a:t>
            </a:r>
            <a:endParaRPr lang="zh-CN" alt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6"/>
            </p:custDataLst>
          </p:nvPr>
        </p:nvSpPr>
        <p:spPr>
          <a:xfrm>
            <a:off x="8427720" y="2921635"/>
            <a:ext cx="2702560" cy="619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ctr">
              <a:lnSpc>
                <a:spcPct val="108000"/>
              </a:lnSpc>
              <a:buSzTx/>
              <a:defRPr/>
            </a:pPr>
            <a:r>
              <a:rPr lang="zh-CN" altLang="en-US" sz="1600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现有项目可以改进的方面</a:t>
            </a:r>
            <a:endParaRPr lang="zh-CN" altLang="en-US" sz="16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62000" y="4308475"/>
            <a:ext cx="11176000" cy="1315085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25" name="AutoShape 25"/>
          <p:cNvSpPr/>
          <p:nvPr/>
        </p:nvSpPr>
        <p:spPr>
          <a:xfrm flipH="1">
            <a:off x="748030" y="4308475"/>
            <a:ext cx="76200" cy="1315720"/>
          </a:xfrm>
          <a:prstGeom prst="roundRect">
            <a:avLst>
              <a:gd name="adj" fmla="val 0"/>
            </a:avLst>
          </a:prstGeom>
          <a:solidFill>
            <a:srgbClr val="10B981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1016000" y="4498975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zh-CN" alt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汇报概览</a:t>
            </a:r>
            <a:endParaRPr lang="zh-CN" alt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1016000" y="4943475"/>
            <a:ext cx="10541000" cy="6299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本次结题汇报将按照上述三个部分展开，先对实验过程进行总结，然后展示我们项目的基本功能，最后对可以改进的方面进行总结。</a:t>
            </a:r>
            <a:endParaRPr lang="zh-CN" altLang="en-US" sz="16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3" grpId="0"/>
      <p:bldP spid="13" grpId="1"/>
      <p:bldP spid="18" grpId="0"/>
      <p:bldP spid="1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41495" y="1072515"/>
            <a:ext cx="3048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10B981">
                    <a:alpha val="25098"/>
                  </a:srgbClr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01</a:t>
            </a:r>
            <a:endParaRPr lang="en-US" sz="12000" b="1" i="0" u="none" strike="noStrike">
              <a:solidFill>
                <a:srgbClr val="10B981">
                  <a:alpha val="25098"/>
                </a:srgbClr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3270250"/>
            <a:ext cx="1040765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4400" b="1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实验过程总结</a:t>
            </a:r>
            <a:endParaRPr lang="zh-CN" altLang="en-US" sz="44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4000" b="1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实验阶段</a:t>
            </a:r>
            <a:endParaRPr lang="zh-CN" altLang="en-US" sz="4000" b="1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2112010"/>
            <a:ext cx="2353945" cy="2345055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 flipV="1">
            <a:off x="762000" y="2037080"/>
            <a:ext cx="2353945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445895" y="2339975"/>
            <a:ext cx="1598295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框架构建</a:t>
            </a:r>
            <a:endParaRPr lang="zh-CN" alt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878840" y="2797175"/>
            <a:ext cx="2165985" cy="15138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eaLnBrk="1" fontAlgn="auto" latinLnBrk="0" hangingPunct="1">
              <a:lnSpc>
                <a:spcPct val="150000"/>
              </a:lnSpc>
              <a:defRPr/>
            </a:pP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第一阶段主要是基础框架搭建，前端实现基本界面样式，后端完成结构体设计。</a:t>
            </a:r>
            <a:endParaRPr lang="zh-CN" altLang="en-US" sz="16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4"/>
          <p:cNvSpPr/>
          <p:nvPr>
            <p:custDataLst>
              <p:tags r:id="rId6"/>
            </p:custDataLst>
          </p:nvPr>
        </p:nvSpPr>
        <p:spPr>
          <a:xfrm>
            <a:off x="3590925" y="2112010"/>
            <a:ext cx="2428875" cy="2345055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2" name="AutoShape 5"/>
          <p:cNvSpPr/>
          <p:nvPr>
            <p:custDataLst>
              <p:tags r:id="rId7"/>
            </p:custDataLst>
          </p:nvPr>
        </p:nvSpPr>
        <p:spPr>
          <a:xfrm flipV="1">
            <a:off x="3590925" y="2037080"/>
            <a:ext cx="2428875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4" name="AutoShape 7"/>
          <p:cNvSpPr/>
          <p:nvPr>
            <p:custDataLst>
              <p:tags r:id="rId8"/>
            </p:custDataLst>
          </p:nvPr>
        </p:nvSpPr>
        <p:spPr>
          <a:xfrm>
            <a:off x="4297680" y="2315210"/>
            <a:ext cx="1618615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实现基本功能</a:t>
            </a:r>
            <a:endParaRPr lang="zh-CN" altLang="en-US" sz="18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9"/>
          <p:cNvSpPr/>
          <p:nvPr>
            <p:custDataLst>
              <p:tags r:id="rId9"/>
            </p:custDataLst>
          </p:nvPr>
        </p:nvSpPr>
        <p:spPr>
          <a:xfrm>
            <a:off x="3733165" y="2796540"/>
            <a:ext cx="2183130" cy="15144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eaLnBrk="1" fontAlgn="auto" latinLnBrk="0" hangingPunct="1">
              <a:lnSpc>
                <a:spcPct val="150000"/>
              </a:lnSpc>
              <a:defRPr/>
            </a:pP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实现前端注册表结构树缓加载、</a:t>
            </a:r>
            <a:r>
              <a:rPr lang="zh-CN" altLang="en-US" sz="1600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注册表快照相关功能、日志输出等基本功能。</a:t>
            </a:r>
            <a:endParaRPr lang="zh-CN" altLang="en-US" sz="16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8" name="AutoShape 4"/>
          <p:cNvSpPr/>
          <p:nvPr>
            <p:custDataLst>
              <p:tags r:id="rId10"/>
            </p:custDataLst>
          </p:nvPr>
        </p:nvSpPr>
        <p:spPr>
          <a:xfrm>
            <a:off x="6481445" y="2112010"/>
            <a:ext cx="2499360" cy="2345055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9" name="AutoShape 5"/>
          <p:cNvSpPr/>
          <p:nvPr>
            <p:custDataLst>
              <p:tags r:id="rId11"/>
            </p:custDataLst>
          </p:nvPr>
        </p:nvSpPr>
        <p:spPr>
          <a:xfrm flipV="1">
            <a:off x="6481445" y="2037080"/>
            <a:ext cx="2504440" cy="76835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40" name="AutoShape 7"/>
          <p:cNvSpPr/>
          <p:nvPr>
            <p:custDataLst>
              <p:tags r:id="rId12"/>
            </p:custDataLst>
          </p:nvPr>
        </p:nvSpPr>
        <p:spPr>
          <a:xfrm>
            <a:off x="7122795" y="2315210"/>
            <a:ext cx="185674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实现注册表监控</a:t>
            </a:r>
            <a:endParaRPr lang="zh-CN" alt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1" name="AutoShape 9"/>
          <p:cNvSpPr/>
          <p:nvPr>
            <p:custDataLst>
              <p:tags r:id="rId13"/>
            </p:custDataLst>
          </p:nvPr>
        </p:nvSpPr>
        <p:spPr>
          <a:xfrm>
            <a:off x="6591935" y="2796540"/>
            <a:ext cx="2285365" cy="15144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eaLnBrk="1" fontAlgn="auto" latinLnBrk="0" hangingPunct="1">
              <a:lnSpc>
                <a:spcPct val="150000"/>
              </a:lnSpc>
              <a:defRPr/>
            </a:pP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实现基于ETW的注册表持续性监控功能，设置第一层绝对排除项和第二层不同危险等级的排除项。</a:t>
            </a:r>
            <a:endParaRPr lang="zh-CN" altLang="en-US" sz="13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44" name="AutoShape 4"/>
          <p:cNvSpPr/>
          <p:nvPr>
            <p:custDataLst>
              <p:tags r:id="rId14"/>
            </p:custDataLst>
          </p:nvPr>
        </p:nvSpPr>
        <p:spPr>
          <a:xfrm>
            <a:off x="9364980" y="2112010"/>
            <a:ext cx="2318385" cy="2345055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45" name="AutoShape 5"/>
          <p:cNvSpPr/>
          <p:nvPr>
            <p:custDataLst>
              <p:tags r:id="rId15"/>
            </p:custDataLst>
          </p:nvPr>
        </p:nvSpPr>
        <p:spPr>
          <a:xfrm flipV="1">
            <a:off x="9364980" y="2037080"/>
            <a:ext cx="2312670" cy="76835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46" name="AutoShape 7"/>
          <p:cNvSpPr/>
          <p:nvPr>
            <p:custDataLst>
              <p:tags r:id="rId16"/>
            </p:custDataLst>
          </p:nvPr>
        </p:nvSpPr>
        <p:spPr>
          <a:xfrm>
            <a:off x="10092055" y="2315210"/>
            <a:ext cx="1481455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测试与总结</a:t>
            </a:r>
            <a:endParaRPr lang="zh-CN" altLang="en-US" sz="18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7" name="AutoShape 9"/>
          <p:cNvSpPr/>
          <p:nvPr>
            <p:custDataLst>
              <p:tags r:id="rId17"/>
            </p:custDataLst>
          </p:nvPr>
        </p:nvSpPr>
        <p:spPr>
          <a:xfrm>
            <a:off x="9475470" y="2796540"/>
            <a:ext cx="2098040" cy="12242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eaLnBrk="1" fontAlgn="auto" latinLnBrk="0" hangingPunct="1">
              <a:lnSpc>
                <a:spcPct val="150000"/>
              </a:lnSpc>
              <a:defRPr/>
            </a:pP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完成软件整体功能测试，撰写用户手册、实验报告，制作结题汇报PPT。</a:t>
            </a:r>
            <a:endParaRPr lang="zh-CN" altLang="en-US" sz="16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图片 11" descr="序号1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878840" y="2361565"/>
            <a:ext cx="423545" cy="423545"/>
          </a:xfrm>
          <a:prstGeom prst="rect">
            <a:avLst/>
          </a:prstGeom>
        </p:spPr>
      </p:pic>
      <p:pic>
        <p:nvPicPr>
          <p:cNvPr id="13" name="图片 12" descr="序号2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3705225" y="2340610"/>
            <a:ext cx="459105" cy="459105"/>
          </a:xfrm>
          <a:prstGeom prst="rect">
            <a:avLst/>
          </a:prstGeom>
        </p:spPr>
      </p:pic>
      <p:pic>
        <p:nvPicPr>
          <p:cNvPr id="14" name="图片 13" descr="序号3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6633210" y="2301240"/>
            <a:ext cx="483870" cy="483870"/>
          </a:xfrm>
          <a:prstGeom prst="rect">
            <a:avLst/>
          </a:prstGeom>
        </p:spPr>
      </p:pic>
      <p:pic>
        <p:nvPicPr>
          <p:cNvPr id="15" name="图片 14" descr="序号4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9559290" y="2337435"/>
            <a:ext cx="434340" cy="434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35" grpId="0"/>
      <p:bldP spid="35" grpId="1"/>
      <p:bldP spid="41" grpId="0"/>
      <p:bldP spid="41" grpId="1"/>
      <p:bldP spid="47" grpId="0"/>
      <p:bldP spid="4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4000" b="1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软件功能介绍</a:t>
            </a:r>
            <a:endParaRPr lang="zh-CN" altLang="en-US" sz="4000" b="1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53745" y="1948180"/>
            <a:ext cx="10802620" cy="2986405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 flipV="1">
            <a:off x="753745" y="1872615"/>
            <a:ext cx="10803255" cy="76835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870585" y="1948815"/>
            <a:ext cx="10535920" cy="28047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 eaLnBrk="1" fontAlgn="auto" latinLnBrk="0" hangingPunct="1">
              <a:lnSpc>
                <a:spcPct val="150000"/>
              </a:lnSpc>
              <a:buFont typeface="+mj-lt"/>
              <a:buNone/>
              <a:defRPr/>
            </a:pPr>
            <a:r>
              <a:rPr lang="en-US" altLang="zh-CN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1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、</a:t>
            </a:r>
            <a:r>
              <a:rPr lang="en-US" altLang="zh-CN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 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原软件核心功能</a:t>
            </a:r>
            <a:endParaRPr lang="zh-CN" altLang="en-US" sz="16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indent="457200" algn="just" eaLnBrk="1" fontAlgn="auto" latinLnBrk="0" hangingPunct="1">
              <a:lnSpc>
                <a:spcPct val="150000"/>
              </a:lnSpc>
              <a:defRPr/>
            </a:pP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原软件</a:t>
            </a:r>
            <a:r>
              <a:rPr lang="en-US" altLang="zh-CN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Regshot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主要用于在</a:t>
            </a:r>
            <a:r>
              <a:rPr lang="en-US" altLang="zh-CN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Windows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操作系统下执行两次注册表快照的拍摄与比较，并最终生成结果文件。</a:t>
            </a:r>
            <a:endParaRPr lang="zh-CN" altLang="en-US" sz="16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indent="0" algn="just" eaLnBrk="1" fontAlgn="auto" latinLnBrk="0" hangingPunct="1">
              <a:lnSpc>
                <a:spcPct val="150000"/>
              </a:lnSpc>
              <a:buFont typeface="+mj-lt"/>
              <a:buNone/>
              <a:defRPr/>
            </a:pPr>
            <a:r>
              <a:rPr lang="en-US" altLang="zh-CN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2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、</a:t>
            </a:r>
            <a:r>
              <a:rPr lang="en-US" altLang="zh-CN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 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重写软件的创新、优化</a:t>
            </a:r>
            <a:endParaRPr lang="zh-CN" altLang="en-US" sz="16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indent="0" algn="just" eaLnBrk="1" fontAlgn="auto" latinLnBrk="0" hangingPunct="1">
              <a:lnSpc>
                <a:spcPct val="150000"/>
              </a:lnSpc>
              <a:defRPr/>
            </a:pP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①基于</a:t>
            </a:r>
            <a:r>
              <a:rPr lang="en-US" altLang="zh-CN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Windows10/11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的新</a:t>
            </a:r>
            <a:r>
              <a:rPr lang="en-US" altLang="zh-CN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Win API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更新。</a:t>
            </a:r>
            <a:endParaRPr lang="zh-CN" altLang="en-US" sz="16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indent="0" algn="just" eaLnBrk="1" fontAlgn="auto" latinLnBrk="0" hangingPunct="1">
              <a:lnSpc>
                <a:spcPct val="150000"/>
              </a:lnSpc>
              <a:defRPr/>
            </a:pP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②提供持续性的注册表监控功能。</a:t>
            </a:r>
            <a:endParaRPr lang="zh-CN" altLang="en-US" sz="16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indent="0" algn="just" eaLnBrk="1" fontAlgn="auto" latinLnBrk="0" hangingPunct="1">
              <a:lnSpc>
                <a:spcPct val="150000"/>
              </a:lnSpc>
              <a:defRPr/>
            </a:pP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③拥有</a:t>
            </a:r>
            <a:r>
              <a:rPr lang="en-US" altLang="zh-CN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Qt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搭建的全新</a:t>
            </a:r>
            <a:r>
              <a:rPr lang="en-US" altLang="zh-CN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UI</a:t>
            </a: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界面。</a:t>
            </a:r>
            <a:endParaRPr lang="zh-CN" altLang="en-US" sz="16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indent="0" algn="just" eaLnBrk="1" fontAlgn="auto" latinLnBrk="0" hangingPunct="1">
              <a:lnSpc>
                <a:spcPct val="150000"/>
              </a:lnSpc>
              <a:defRPr/>
            </a:pPr>
            <a:r>
              <a:rPr lang="zh-CN" altLang="en-US" sz="16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④提供双过滤层机制，允许用户自定义过滤。</a:t>
            </a:r>
            <a:endParaRPr lang="zh-CN" altLang="en-US" sz="16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72000" y="978535"/>
            <a:ext cx="3048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10B981">
                    <a:alpha val="34902"/>
                  </a:srgbClr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02</a:t>
            </a:r>
            <a:endParaRPr lang="en-US" sz="12000" b="1" i="0" u="none" strike="noStrike">
              <a:solidFill>
                <a:srgbClr val="10B981">
                  <a:alpha val="34902"/>
                </a:srgbClr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2980055"/>
            <a:ext cx="1066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44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结果展示</a:t>
            </a:r>
            <a:endParaRPr lang="zh-CN" altLang="en-US" sz="44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662940" y="1675130"/>
            <a:ext cx="2802890" cy="309753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 flipV="1">
            <a:off x="662940" y="1598930"/>
            <a:ext cx="280289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4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代码基础配置</a:t>
            </a:r>
            <a:endParaRPr lang="zh-CN" altLang="en-US" sz="4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33" name="Picture 233"/>
          <p:cNvPicPr/>
          <p:nvPr/>
        </p:nvPicPr>
        <p:blipFill>
          <a:blip r:embed="rId4"/>
          <a:stretch>
            <a:fillRect/>
          </a:stretch>
        </p:blipFill>
        <p:spPr>
          <a:xfrm>
            <a:off x="3692525" y="1598930"/>
            <a:ext cx="8211185" cy="4697095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810895" y="1758315"/>
            <a:ext cx="2529840" cy="2767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 eaLnBrk="1" fontAlgn="auto" latinLnBrk="0" hangingPunct="1">
              <a:lnSpc>
                <a:spcPct val="150000"/>
              </a:lnSpc>
            </a:pPr>
            <a:r>
              <a:rPr lang="zh-CN" altLang="en-US" sz="1600"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</a:rPr>
              <a:t>从Github上下载程序的Release压缩包，本地解压后可以看到RegScope.exe，点击后程序即可运行。</a:t>
            </a:r>
            <a:endParaRPr lang="zh-CN" altLang="en-US" sz="1600"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  <a:p>
            <a:pPr indent="0" algn="just" eaLnBrk="1" fontAlgn="auto" latinLnBrk="0" hangingPunct="1">
              <a:lnSpc>
                <a:spcPct val="150000"/>
              </a:lnSpc>
            </a:pPr>
            <a:r>
              <a:rPr lang="zh-CN" altLang="en-US" sz="1600"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</a:rPr>
              <a:t>本项目</a:t>
            </a:r>
            <a:r>
              <a:rPr lang="zh-CN" altLang="en-US" sz="1600"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Github仓库链接为：https://github.com/CZChenZhan/RegScope</a:t>
            </a:r>
            <a:endParaRPr lang="zh-CN" altLang="en-US" sz="1600"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662940" y="1675130"/>
            <a:ext cx="2802890" cy="160782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 flipV="1">
            <a:off x="662940" y="1598930"/>
            <a:ext cx="280289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4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注册表查询与展示</a:t>
            </a:r>
            <a:endParaRPr lang="zh-CN" altLang="en-US" sz="4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61365" y="1747520"/>
            <a:ext cx="25482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eaLnBrk="1" fontAlgn="auto" latinLnBrk="0" hangingPunct="1">
              <a:lnSpc>
                <a:spcPct val="150000"/>
              </a:lnSpc>
            </a:pPr>
            <a:r>
              <a:rPr lang="zh-CN" altLang="en-US" sz="1600"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点击左侧任意注册表项，如果其为叶子项，则展示其内容。</a:t>
            </a:r>
            <a:endParaRPr lang="zh-CN" altLang="en-US"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250" name="Picture 250"/>
          <p:cNvPicPr/>
          <p:nvPr/>
        </p:nvPicPr>
        <p:blipFill>
          <a:blip r:embed="rId4"/>
          <a:stretch>
            <a:fillRect/>
          </a:stretch>
        </p:blipFill>
        <p:spPr>
          <a:xfrm>
            <a:off x="3698240" y="1606550"/>
            <a:ext cx="8315325" cy="49002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662940" y="1584960"/>
            <a:ext cx="11257915" cy="50165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4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注册表快照拍摄、存储</a:t>
            </a:r>
            <a:endParaRPr lang="zh-CN" altLang="en-US" sz="4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62940" y="1534160"/>
            <a:ext cx="112579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eaLnBrk="1" fontAlgn="auto" latinLnBrk="0" hangingPunct="1">
              <a:lnSpc>
                <a:spcPct val="150000"/>
              </a:lnSpc>
            </a:pPr>
            <a:r>
              <a:rPr lang="zh-CN" altLang="en-US" sz="1600"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点击运行(R)-拍摄快照 ，程序运行完后发现以时间戳命名的.rgs文件，说明注册表快照拍摄功能成功实现。</a:t>
            </a:r>
            <a:endParaRPr lang="zh-CN" altLang="en-US" sz="1600"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284" name="Picture 284"/>
          <p:cNvPicPr/>
          <p:nvPr/>
        </p:nvPicPr>
        <p:blipFill>
          <a:blip r:embed="rId3"/>
          <a:stretch>
            <a:fillRect/>
          </a:stretch>
        </p:blipFill>
        <p:spPr>
          <a:xfrm>
            <a:off x="6294120" y="2414905"/>
            <a:ext cx="5693410" cy="3547110"/>
          </a:xfrm>
          <a:prstGeom prst="rect">
            <a:avLst/>
          </a:prstGeom>
        </p:spPr>
      </p:pic>
      <p:pic>
        <p:nvPicPr>
          <p:cNvPr id="6" name="Picture 275"/>
          <p:cNvPicPr/>
          <p:nvPr/>
        </p:nvPicPr>
        <p:blipFill>
          <a:blip r:embed="rId4"/>
          <a:stretch>
            <a:fillRect/>
          </a:stretch>
        </p:blipFill>
        <p:spPr>
          <a:xfrm>
            <a:off x="662940" y="2414905"/>
            <a:ext cx="5432425" cy="354711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 flipV="1">
            <a:off x="662940" y="1508760"/>
            <a:ext cx="11257915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6" name="AutoShape 4"/>
          <p:cNvSpPr/>
          <p:nvPr>
            <p:custDataLst>
              <p:tags r:id="rId2"/>
            </p:custDataLst>
          </p:nvPr>
        </p:nvSpPr>
        <p:spPr>
          <a:xfrm>
            <a:off x="662940" y="1571625"/>
            <a:ext cx="11257915" cy="692785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61365" y="1495425"/>
            <a:ext cx="11061065" cy="685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 eaLnBrk="1" fontAlgn="auto" latinLnBrk="0" hangingPunct="1">
              <a:lnSpc>
                <a:spcPct val="150000"/>
              </a:lnSpc>
            </a:pPr>
            <a:r>
              <a:rPr lang="zh-CN" altLang="en-US" sz="1600"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点击运行(R)-比较快照 ，选取两次注册表快照文件，比较结果呈现于界面右上方，再点击文件(F)-保存结果 ，可将比较结果保存至本地：</a:t>
            </a:r>
            <a:endParaRPr lang="zh-CN" altLang="en-US" sz="1600"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4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比较快照，展示比较结果，保存</a:t>
            </a:r>
            <a:endParaRPr lang="zh-CN" altLang="en-US" sz="4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31" name="Picture 331"/>
          <p:cNvPicPr/>
          <p:nvPr/>
        </p:nvPicPr>
        <p:blipFill>
          <a:blip r:embed="rId3"/>
          <a:stretch>
            <a:fillRect/>
          </a:stretch>
        </p:blipFill>
        <p:spPr>
          <a:xfrm>
            <a:off x="662940" y="2566035"/>
            <a:ext cx="5514975" cy="3415665"/>
          </a:xfrm>
          <a:prstGeom prst="rect">
            <a:avLst/>
          </a:prstGeom>
        </p:spPr>
      </p:pic>
      <p:pic>
        <p:nvPicPr>
          <p:cNvPr id="4" name="Picture 343"/>
          <p:cNvPicPr/>
          <p:nvPr/>
        </p:nvPicPr>
        <p:blipFill>
          <a:blip r:embed="rId4"/>
          <a:stretch>
            <a:fillRect/>
          </a:stretch>
        </p:blipFill>
        <p:spPr>
          <a:xfrm>
            <a:off x="6355715" y="2566035"/>
            <a:ext cx="5650865" cy="3415665"/>
          </a:xfrm>
          <a:prstGeom prst="rect">
            <a:avLst/>
          </a:prstGeom>
        </p:spPr>
      </p:pic>
      <p:pic>
        <p:nvPicPr>
          <p:cNvPr id="5" name="Picture 345"/>
          <p:cNvPicPr/>
          <p:nvPr/>
        </p:nvPicPr>
        <p:blipFill>
          <a:blip r:embed="rId5"/>
          <a:stretch>
            <a:fillRect/>
          </a:stretch>
        </p:blipFill>
        <p:spPr>
          <a:xfrm>
            <a:off x="3269933" y="3386942"/>
            <a:ext cx="5650865" cy="3373416"/>
          </a:xfrm>
          <a:prstGeom prst="rect">
            <a:avLst/>
          </a:prstGeom>
        </p:spPr>
      </p:pic>
      <p:sp>
        <p:nvSpPr>
          <p:cNvPr id="7" name="AutoShape 5"/>
          <p:cNvSpPr/>
          <p:nvPr>
            <p:custDataLst>
              <p:tags r:id="rId6"/>
            </p:custDataLst>
          </p:nvPr>
        </p:nvSpPr>
        <p:spPr>
          <a:xfrm flipV="1">
            <a:off x="662940" y="1495425"/>
            <a:ext cx="11257915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6" name="AutoShape 4"/>
          <p:cNvSpPr/>
          <p:nvPr>
            <p:custDataLst>
              <p:tags r:id="rId2"/>
            </p:custDataLst>
          </p:nvPr>
        </p:nvSpPr>
        <p:spPr>
          <a:xfrm>
            <a:off x="662940" y="1546225"/>
            <a:ext cx="11257915" cy="692785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4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注册表实时监控</a:t>
            </a:r>
            <a:endParaRPr lang="zh-CN" altLang="en-US" sz="4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61365" y="1470025"/>
            <a:ext cx="11091545" cy="714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 eaLnBrk="1" fontAlgn="auto" latinLnBrk="0" hangingPunct="1">
              <a:lnSpc>
                <a:spcPct val="150000"/>
              </a:lnSpc>
            </a:pPr>
            <a:r>
              <a:rPr lang="zh-CN" altLang="en-US" sz="1600"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点击运行(</a:t>
            </a:r>
            <a:r>
              <a:rPr lang="en-US" altLang="zh-CN" sz="1600"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R)-</a:t>
            </a:r>
            <a:r>
              <a:rPr lang="zh-CN" altLang="en-US" sz="1600"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开始分析 ，如果无管理员权限，会弹出提示。在获取权限后重新点击，程序开始运行，结束后将结果呈现于界面右上区，同样可以保存结果至本地。用户也可以根据需求，自定义过滤文件后，再予运行：</a:t>
            </a:r>
            <a:endParaRPr lang="zh-CN" altLang="en-US" sz="1600"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370" name="Picture 370"/>
          <p:cNvPicPr/>
          <p:nvPr/>
        </p:nvPicPr>
        <p:blipFill>
          <a:blip r:embed="rId3"/>
          <a:stretch>
            <a:fillRect/>
          </a:stretch>
        </p:blipFill>
        <p:spPr>
          <a:xfrm>
            <a:off x="662623" y="2515087"/>
            <a:ext cx="5650865" cy="3373416"/>
          </a:xfrm>
          <a:prstGeom prst="rect">
            <a:avLst/>
          </a:prstGeom>
        </p:spPr>
      </p:pic>
      <p:pic>
        <p:nvPicPr>
          <p:cNvPr id="372" name="Picture 372"/>
          <p:cNvPicPr/>
          <p:nvPr/>
        </p:nvPicPr>
        <p:blipFill>
          <a:blip r:embed="rId4"/>
          <a:stretch>
            <a:fillRect/>
          </a:stretch>
        </p:blipFill>
        <p:spPr>
          <a:xfrm>
            <a:off x="6448743" y="2515087"/>
            <a:ext cx="5650865" cy="3373416"/>
          </a:xfrm>
          <a:prstGeom prst="rect">
            <a:avLst/>
          </a:prstGeom>
        </p:spPr>
      </p:pic>
      <p:pic>
        <p:nvPicPr>
          <p:cNvPr id="377" name="Picture 377"/>
          <p:cNvPicPr/>
          <p:nvPr/>
        </p:nvPicPr>
        <p:blipFill>
          <a:blip r:embed="rId5"/>
          <a:stretch>
            <a:fillRect/>
          </a:stretch>
        </p:blipFill>
        <p:spPr>
          <a:xfrm>
            <a:off x="3466148" y="3387090"/>
            <a:ext cx="5650865" cy="337312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6"/>
            </p:custDataLst>
          </p:nvPr>
        </p:nvSpPr>
        <p:spPr>
          <a:xfrm flipV="1">
            <a:off x="662940" y="1470025"/>
            <a:ext cx="11257915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191000" y="1143000"/>
            <a:ext cx="381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10B981">
                    <a:alpha val="25098"/>
                  </a:srgbClr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03</a:t>
            </a:r>
            <a:endParaRPr lang="en-US" sz="12000" b="1" i="0" u="none" strike="noStrike">
              <a:solidFill>
                <a:srgbClr val="10B981">
                  <a:alpha val="25098"/>
                </a:srgbClr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3035300"/>
            <a:ext cx="1082484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4400" b="1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持续改进</a:t>
            </a:r>
            <a:endParaRPr lang="zh-CN" altLang="en-US" sz="44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4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后续改进</a:t>
            </a:r>
            <a:endParaRPr lang="zh-CN" altLang="en-US" sz="4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10640060" cy="277495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 flipV="1">
            <a:off x="762000" y="1619250"/>
            <a:ext cx="10640695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</a:endParaR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889635" y="1857375"/>
            <a:ext cx="1027239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Noto Sans SC" panose="020B0200000000000000" charset="-122"/>
              </a:rPr>
              <a:t>针对现有软件功能运行时的体验，预计将在后续版本中实现以下改进：</a:t>
            </a:r>
            <a:endParaRPr lang="zh-CN" altLang="en-US" sz="2000" b="1" i="0" u="none" strike="noStrike">
              <a:solidFill>
                <a:srgbClr val="1F2937"/>
              </a:solidFill>
              <a:latin typeface="Times New Roman" panose="02020603050405020304" charset="0"/>
              <a:ea typeface="华文楷体" panose="0201060004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889000" y="2402840"/>
            <a:ext cx="10273030" cy="15157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just" eaLnBrk="1" fontAlgn="auto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优化快照、结果拍摄完毕、保存至本地阶段的操作体验，支持在这些过程中使用程序的其他功能。</a:t>
            </a:r>
            <a:endParaRPr lang="zh-CN" altLang="en-US" sz="18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just" eaLnBrk="1" fontAlgn="auto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对保存的结果文件实现多种格式的灵活保存输出。</a:t>
            </a:r>
            <a:endParaRPr lang="zh-CN" altLang="en-US" sz="18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just" eaLnBrk="1" fontAlgn="auto" latin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0" i="0" u="none" strike="noStrike">
                <a:solidFill>
                  <a:srgbClr val="374151"/>
                </a:solidFill>
                <a:latin typeface="Times New Roman" panose="02020603050405020304" charset="0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实现注册表快照文件与其他软件的高效对接，进一步提升接口匹配度与兼容性。</a:t>
            </a:r>
            <a:endParaRPr lang="zh-CN" altLang="en-US" sz="1800" b="0" i="0" u="none" strike="noStrike">
              <a:solidFill>
                <a:srgbClr val="374151"/>
              </a:solidFill>
              <a:latin typeface="Times New Roman" panose="02020603050405020304" charset="0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503045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600" b="1" i="0" u="none" strike="noStrike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6600" b="1" i="0" u="none" strike="noStrike">
              <a:solidFill>
                <a:srgbClr val="FFFFFF"/>
              </a:solidFill>
              <a:latin typeface="华文楷体" panose="02010600040101010101" charset="-122"/>
              <a:ea typeface="华文楷体" panose="0201060004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6"/>
          <p:cNvSpPr/>
          <p:nvPr/>
        </p:nvSpPr>
        <p:spPr>
          <a:xfrm>
            <a:off x="4762500" y="4043045"/>
            <a:ext cx="266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 panose="020B0200000000000000" charset="-122"/>
              </a:rPr>
              <a:t>小组成员：陈展</a:t>
            </a:r>
            <a:r>
              <a:rPr lang="en-US" altLang="zh-CN" sz="2000" b="1" i="0" u="none" strike="noStrike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 panose="020B0200000000000000" charset="-122"/>
              </a:rPr>
              <a:t> </a:t>
            </a:r>
            <a:r>
              <a:rPr lang="zh-CN" altLang="en-US" sz="2000" b="1" i="0" u="none" strike="noStrike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 panose="020B0200000000000000" charset="-122"/>
              </a:rPr>
              <a:t>段俊宇</a:t>
            </a:r>
            <a:endParaRPr lang="zh-CN" altLang="en-US" sz="2000" b="1" i="0" u="none" strike="noStrike">
              <a:solidFill>
                <a:srgbClr val="FFFFF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2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3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4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5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6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7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8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9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10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11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12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13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14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15.xml><?xml version="1.0" encoding="utf-8"?>
<p:tagLst xmlns:p="http://schemas.openxmlformats.org/presentationml/2006/main">
  <p:tag name="KSO_WM_DIAGRAM_VIRTUALLY_FRAME" val="{&quot;height&quot;:195,&quot;left&quot;:60,&quot;top&quot;:130,&quot;width&quot;:880}"/>
</p:tagLst>
</file>

<file path=ppt/tags/tag16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17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18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19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20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21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22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23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24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25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26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27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28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29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30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31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32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33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34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35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36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37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38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39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40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41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42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43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44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45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46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47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48.xml><?xml version="1.0" encoding="utf-8"?>
<p:tagLst xmlns:p="http://schemas.openxmlformats.org/presentationml/2006/main">
  <p:tag name="KSO_WM_DIAGRAM_VIRTUALLY_FRAME" val="{&quot;height&quot;:255.8,&quot;left&quot;:60,&quot;top&quot;:138.05,&quot;width&quot;:859.95}"/>
</p:tagLst>
</file>

<file path=ppt/tags/tag49.xml><?xml version="1.0" encoding="utf-8"?>
<p:tagLst xmlns:p="http://schemas.openxmlformats.org/presentationml/2006/main">
  <p:tag name="KSO_WM_DIAGRAM_VIRTUALLY_FRAME" val="{&quot;height&quot;:295.85,&quot;left&quot;:60,&quot;top&quot;:126.65,&quot;width&quot;:850}"/>
</p:tagLst>
</file>

<file path=ppt/tags/tag50.xml><?xml version="1.0" encoding="utf-8"?>
<p:tagLst xmlns:p="http://schemas.openxmlformats.org/presentationml/2006/main">
  <p:tag name="KSO_WM_DIAGRAM_VIRTUALLY_FRAME" val="{&quot;height&quot;:295.85,&quot;left&quot;:60,&quot;top&quot;:126.65,&quot;width&quot;:850}"/>
</p:tagLst>
</file>

<file path=ppt/tags/tag51.xml><?xml version="1.0" encoding="utf-8"?>
<p:tagLst xmlns:p="http://schemas.openxmlformats.org/presentationml/2006/main">
  <p:tag name="KSO_WM_DIAGRAM_VIRTUALLY_FRAME" val="{&quot;height&quot;:295.85,&quot;left&quot;:60,&quot;top&quot;:126.65,&quot;width&quot;:850}"/>
</p:tagLst>
</file>

<file path=ppt/tags/tag52.xml><?xml version="1.0" encoding="utf-8"?>
<p:tagLst xmlns:p="http://schemas.openxmlformats.org/presentationml/2006/main">
  <p:tag name="KSO_WM_DIAGRAM_VIRTUALLY_FRAME" val="{&quot;height&quot;:295.85,&quot;left&quot;:60,&quot;top&quot;:126.65,&quot;width&quot;:85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1065</Words>
  <Application>WPS 演示</Application>
  <PresentationFormat/>
  <Paragraphs>103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宋体</vt:lpstr>
      <vt:lpstr>Wingdings</vt:lpstr>
      <vt:lpstr>Arial</vt:lpstr>
      <vt:lpstr>Times New Roman</vt:lpstr>
      <vt:lpstr>华文楷体</vt:lpstr>
      <vt:lpstr>Noto Sans SC</vt:lpstr>
      <vt:lpstr>微软雅黑</vt:lpstr>
      <vt:lpstr>Arial Unicode MS</vt:lpstr>
      <vt:lpstr>Office 主题​​</vt:lpstr>
      <vt:lpstr>默认主题</vt:lpstr>
      <vt:lpstr>1_默认主题</vt:lpstr>
      <vt:lpstr>2_默认主题</vt:lpstr>
      <vt:lpstr>3_默认主题</vt:lpstr>
      <vt:lpstr>4_默认主题</vt:lpstr>
      <vt:lpstr>5_默认主题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米大大</cp:lastModifiedBy>
  <cp:revision>44</cp:revision>
  <dcterms:created xsi:type="dcterms:W3CDTF">2026-05-28T12:28:00Z</dcterms:created>
  <dcterms:modified xsi:type="dcterms:W3CDTF">2026-05-29T02:30:39Z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{"Label":"1","ContentProducer":"001191110102MACQD9K64010000","ProduceID":"7644913401604508608","ReservedCode1":"","ContentPropagator":"","PropagateID":"","ReservedCode2":""}</vt:lpwstr>
  </property>
  <property fmtid="{D5CDD505-2E9C-101B-9397-08002B2CF9AE}" pid="3" name="KSOProductBuildVer">
    <vt:lpwstr>2052-12.1.0.26375</vt:lpwstr>
  </property>
  <property fmtid="{D5CDD505-2E9C-101B-9397-08002B2CF9AE}" pid="4" name="ICV">
    <vt:lpwstr>098FBA8ED0C540BDA48FFF50A5E5C1AA_13</vt:lpwstr>
  </property>
</Properties>
</file>